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79" r:id="rId3"/>
    <p:sldId id="257" r:id="rId4"/>
    <p:sldId id="272" r:id="rId5"/>
    <p:sldId id="273" r:id="rId6"/>
    <p:sldId id="274" r:id="rId7"/>
    <p:sldId id="275" r:id="rId8"/>
    <p:sldId id="277" r:id="rId9"/>
    <p:sldId id="278" r:id="rId10"/>
    <p:sldId id="271" r:id="rId11"/>
    <p:sldId id="270" r:id="rId12"/>
    <p:sldId id="280" r:id="rId13"/>
    <p:sldId id="281" r:id="rId14"/>
    <p:sldId id="282" r:id="rId15"/>
    <p:sldId id="283" r:id="rId16"/>
    <p:sldId id="258" r:id="rId17"/>
    <p:sldId id="284" r:id="rId18"/>
    <p:sldId id="285" r:id="rId19"/>
    <p:sldId id="286" r:id="rId20"/>
    <p:sldId id="287" r:id="rId21"/>
    <p:sldId id="288" r:id="rId22"/>
    <p:sldId id="289" r:id="rId23"/>
    <p:sldId id="291" r:id="rId24"/>
    <p:sldId id="293" r:id="rId25"/>
    <p:sldId id="294" r:id="rId26"/>
    <p:sldId id="295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259" r:id="rId42"/>
    <p:sldId id="260" r:id="rId43"/>
    <p:sldId id="262" r:id="rId44"/>
    <p:sldId id="263" r:id="rId45"/>
    <p:sldId id="264" r:id="rId46"/>
    <p:sldId id="265" r:id="rId47"/>
    <p:sldId id="266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5D762-9755-AE4E-9469-7134F52F3285}" v="339" dt="2026-04-07T00:02:13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0739"/>
  </p:normalViewPr>
  <p:slideViewPr>
    <p:cSldViewPr snapToGrid="0" snapToObjects="1">
      <p:cViewPr>
        <p:scale>
          <a:sx n="140" d="100"/>
          <a:sy n="140" d="100"/>
        </p:scale>
        <p:origin x="266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637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D5D94-186D-BCC0-552A-1F5CD016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0EAD-E204-3F81-0CCC-16D767DC4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950BC-BAF8-AC06-C3E5-1934BC913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2F50E-72D7-42B1-7AC5-997EB6027D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86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6D552-2BC1-D0DD-A093-94FC77F7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88A81-979D-BD2A-477A-39E91F1AC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CD857-418D-3BDA-6D2C-A0B97788C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B98F4-A9BF-EF8E-A11F-D75E695BD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96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822A-842A-B2AC-21AA-5F545D72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51C52-CD43-4646-0A36-D359F1DC1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8AE48-B3FF-712C-97AF-F5282269B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01236-6865-B3E2-B1E0-79B34C20F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20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A17D-F4E8-6522-5E2D-D28B0C8B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7C172-8E22-6613-251D-3B8CA0BB0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BD1E1-C57D-45D1-CA3E-F17EB1C90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58F3-5A71-D756-3B36-EE75DEFCD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21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3101-CB41-2EE4-0467-56A77E40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F2112-F519-6635-759F-E3C70B779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44841-427F-354B-281B-6E3D5CEAF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18329-225A-7421-0A77-18D90BB98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04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FF06-887A-A2A8-BA96-F2D24335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55BF3-5C8B-E8A8-FFF8-AAA36E1CB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9C5B5-8057-309F-971D-1A3E263CE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A23AF-E8B0-E554-E90D-019D78D51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89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0885-C14F-DE8C-19F4-4363304D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AE38D-FCD7-1CD8-2BE2-40346E58E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633CE-6DCC-9482-8C30-7D509B538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DC863-EE6F-2BD9-27C8-8A2F38B4D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88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8AEF-6E18-047E-BA8F-9414EFD4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ADC51-3985-3E14-CC3F-A55B94806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FD27D-DAC4-A9E9-E6E9-B4A0E2B1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192F3-E292-52E7-B44F-AEA5117FA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03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447C-3A16-B727-37FD-6DAF4A8A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03412-A3FD-FB95-CF62-63CD0CC64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D9D2C-8404-412D-4CB5-4BD243160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1FAAD-07C8-11F2-C323-C6CC328DB4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2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DA78-D546-36E1-FC91-B8040195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9CD22-30F3-AEA3-3C36-E5B69D4B5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31EA4-42E7-AB55-F94B-24AF768DE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68D1F-EA98-29AC-6603-F876423A0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5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8F00-633B-EE58-214E-9971DE0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8DD83-17E9-343B-E72D-B7BAB1034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31864-A37C-C25F-AC73-F3A558637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D606A-9004-B8FD-E258-8039C83A9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0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D6A7-8B36-CC10-2BA8-8047B34FB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E318C-F215-89D0-2421-F93EE4A55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4A9E8-724E-1D4F-52E6-7F816BF37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C3006-BBD2-2463-CFD1-E0FF5BE17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70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531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018A-9D4B-B48E-F4B4-C779D7D4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B9A0C-679F-B263-D7DF-9359EEF6A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FB141-ACC4-E12A-6602-D4D98A1E8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562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96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1D084-2AA4-6215-B354-250E6107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60CB4-D74B-1971-4D70-2E89BE384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1D8A8-239A-0F69-12C2-CB946DA0B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8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A320-6F08-F8B9-51BC-AB3BDDD0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47876-93E9-B886-ECB8-9347175CE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7D505-080F-F93D-CD35-A9509878B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331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E128-3BDA-A6A4-418E-95F2B28E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AEF42-D888-B30C-31C5-DDF22E130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3556F-5301-4C86-B215-F04DF664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5192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23037-EF7B-03FD-43A1-725744EC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A604A-1238-D67C-E324-6439F75E3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B20D0-16E7-9FEF-B19F-7DB80DEC0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86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6EDC-4685-B409-69FD-822A3400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920B1-8539-73AC-4014-31AC65233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E2D3D-F077-F147-733F-A3EEF6C90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16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D70A-A1A9-03DD-627C-D674B70A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AB1E1-9118-403A-C875-EE9AB3F2A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9088D-CD58-291C-2C7E-1656C5E89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27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F7A1-5CE2-98BB-953E-03A9B7D1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59474-E515-60ED-6F04-E725442E0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21ACB-F750-F6B9-1B5C-8CFBB005C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51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5C93-33B9-487B-FCC8-93D1A65E3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41928-1FFB-EAEC-5C07-2A9466D65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75B15-205A-A93B-B2EF-35E6633CE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588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BFA64-1507-A4B0-30C9-0C4D03D9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52E8A-5E2F-3204-3725-B3CEC88D0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D2238-98FE-9AF3-73D5-8884D0AA1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5767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1170-23C9-287B-B2B2-E0E67D10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09AA3-97B0-DB83-F49E-1B911F1B5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B5E8D-B8D4-808A-3689-E755C35CC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435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CE90-492A-8A52-B134-6BB85197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1A3D2-821E-DB91-75E4-225F1B7F2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53290-F406-5CFC-35B9-0D53A309D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www.reddit.com</a:t>
            </a:r>
            <a:r>
              <a:rPr lang="en-US" dirty="0"/>
              <a:t>/r/</a:t>
            </a:r>
            <a:r>
              <a:rPr lang="en-US" dirty="0" err="1"/>
              <a:t>LocalLLaMA</a:t>
            </a:r>
            <a:r>
              <a:rPr lang="en-US" dirty="0"/>
              <a:t>/comments/1mymyfu/a_timeline_of_llm_context_windows_over_the_past_5/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ai.google.dev</a:t>
            </a:r>
            <a:r>
              <a:rPr lang="en-US" dirty="0"/>
              <a:t>/</a:t>
            </a:r>
            <a:r>
              <a:rPr lang="en-US" dirty="0" err="1"/>
              <a:t>gemini-api</a:t>
            </a:r>
            <a:r>
              <a:rPr lang="en-US" dirty="0"/>
              <a:t>/docs/long-context</a:t>
            </a:r>
          </a:p>
        </p:txBody>
      </p:sp>
    </p:spTree>
    <p:extLst>
      <p:ext uri="{BB962C8B-B14F-4D97-AF65-F5344CB8AC3E}">
        <p14:creationId xmlns:p14="http://schemas.microsoft.com/office/powerpoint/2010/main" val="37701682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D249-EBD0-180D-D811-A5D8ACB4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7899D-CE1E-26E0-07DB-7948AE471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89356-309F-0C41-DD07-DD764521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Send feedback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785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2D0E-9323-6044-34DF-3BD92A9D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8E623-A2F2-DFFD-2FAB-4A2E953F1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231E0-D612-8A40-719A-497C9C7B3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CA" dirty="0" err="1"/>
              <a:t>Escuché</a:t>
            </a:r>
            <a:r>
              <a:rPr lang="en-CA" dirty="0"/>
              <a:t> </a:t>
            </a:r>
            <a:r>
              <a:rPr lang="en-CA" dirty="0" err="1"/>
              <a:t>que</a:t>
            </a:r>
            <a:r>
              <a:rPr lang="en-CA" dirty="0"/>
              <a:t> la </a:t>
            </a:r>
            <a:r>
              <a:rPr lang="en-CA" dirty="0" err="1"/>
              <a:t>integración</a:t>
            </a:r>
            <a:r>
              <a:rPr lang="en-CA" dirty="0"/>
              <a:t> </a:t>
            </a:r>
            <a:r>
              <a:rPr lang="en-CA" dirty="0" err="1"/>
              <a:t>financiera</a:t>
            </a:r>
            <a:r>
              <a:rPr lang="en-CA" dirty="0"/>
              <a:t> </a:t>
            </a:r>
            <a:r>
              <a:rPr lang="en-CA" dirty="0" err="1"/>
              <a:t>podría</a:t>
            </a:r>
            <a:r>
              <a:rPr lang="en-CA" dirty="0"/>
              <a:t> ser </a:t>
            </a:r>
            <a:r>
              <a:rPr lang="en-CA" dirty="0" err="1"/>
              <a:t>contraintuitivamente</a:t>
            </a:r>
            <a:r>
              <a:rPr lang="en-CA" dirty="0"/>
              <a:t> </a:t>
            </a:r>
            <a:r>
              <a:rPr lang="en-CA" dirty="0" err="1"/>
              <a:t>perjudicial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algunos</a:t>
            </a:r>
            <a:r>
              <a:rPr lang="en-CA" dirty="0"/>
              <a:t> </a:t>
            </a:r>
            <a:r>
              <a:rPr lang="en-CA" dirty="0" err="1"/>
              <a:t>casos</a:t>
            </a:r>
            <a:r>
              <a:rPr lang="en-CA" dirty="0"/>
              <a:t>. Por </a:t>
            </a:r>
            <a:r>
              <a:rPr lang="en-CA" dirty="0" err="1"/>
              <a:t>ejemplo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Brasil</a:t>
            </a:r>
            <a:r>
              <a:rPr lang="en-CA" dirty="0"/>
              <a:t> gran </a:t>
            </a:r>
            <a:r>
              <a:rPr lang="en-CA" dirty="0" err="1"/>
              <a:t>parte</a:t>
            </a:r>
            <a:r>
              <a:rPr lang="en-CA" dirty="0"/>
              <a:t> de las </a:t>
            </a:r>
            <a:r>
              <a:rPr lang="en-CA" dirty="0" err="1"/>
              <a:t>transferencias</a:t>
            </a:r>
            <a:r>
              <a:rPr lang="en-CA" dirty="0"/>
              <a:t> del </a:t>
            </a:r>
            <a:r>
              <a:rPr lang="en-CA" dirty="0" err="1"/>
              <a:t>estado</a:t>
            </a:r>
            <a:r>
              <a:rPr lang="en-CA" dirty="0"/>
              <a:t> </a:t>
            </a:r>
            <a:r>
              <a:rPr lang="en-CA" dirty="0" err="1"/>
              <a:t>terminan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plataformas</a:t>
            </a:r>
            <a:r>
              <a:rPr lang="en-CA" dirty="0"/>
              <a:t> de </a:t>
            </a:r>
            <a:r>
              <a:rPr lang="en-CA" dirty="0" err="1"/>
              <a:t>apuestas</a:t>
            </a:r>
            <a:r>
              <a:rPr lang="en-CA" dirty="0"/>
              <a:t>. </a:t>
            </a:r>
            <a:r>
              <a:rPr lang="en-CA" dirty="0" err="1"/>
              <a:t>Podrías</a:t>
            </a:r>
            <a:r>
              <a:rPr lang="en-CA" dirty="0"/>
              <a:t> </a:t>
            </a:r>
            <a:r>
              <a:rPr lang="en-CA" dirty="0" err="1"/>
              <a:t>darme</a:t>
            </a:r>
            <a:r>
              <a:rPr lang="en-CA" dirty="0"/>
              <a:t> </a:t>
            </a:r>
            <a:r>
              <a:rPr lang="en-CA" dirty="0" err="1"/>
              <a:t>los</a:t>
            </a:r>
            <a:r>
              <a:rPr lang="en-CA" dirty="0"/>
              <a:t> </a:t>
            </a:r>
            <a:r>
              <a:rPr lang="en-CA" dirty="0" err="1"/>
              <a:t>datos</a:t>
            </a:r>
            <a:r>
              <a:rPr lang="en-CA" dirty="0"/>
              <a:t> </a:t>
            </a:r>
            <a:r>
              <a:rPr lang="en-CA" dirty="0" err="1"/>
              <a:t>concretos</a:t>
            </a:r>
            <a:r>
              <a:rPr lang="en-CA" dirty="0"/>
              <a:t> </a:t>
            </a:r>
            <a:r>
              <a:rPr lang="en-CA" dirty="0" err="1"/>
              <a:t>sobre</a:t>
            </a:r>
            <a:r>
              <a:rPr lang="en-CA" dirty="0"/>
              <a:t> </a:t>
            </a:r>
            <a:r>
              <a:rPr lang="en-CA" dirty="0" err="1"/>
              <a:t>esto</a:t>
            </a:r>
            <a:r>
              <a:rPr lang="en-CA" dirty="0"/>
              <a:t> y </a:t>
            </a:r>
            <a:r>
              <a:rPr lang="en-CA" dirty="0" err="1"/>
              <a:t>elaborar</a:t>
            </a:r>
            <a:r>
              <a:rPr lang="en-CA" dirty="0"/>
              <a:t> un </a:t>
            </a:r>
            <a:r>
              <a:rPr lang="en-CA" dirty="0" err="1"/>
              <a:t>reporte</a:t>
            </a:r>
            <a:r>
              <a:rPr lang="en-CA" dirty="0"/>
              <a:t> </a:t>
            </a:r>
            <a:r>
              <a:rPr lang="en-CA" dirty="0" err="1"/>
              <a:t>más</a:t>
            </a:r>
            <a:r>
              <a:rPr lang="en-CA" dirty="0"/>
              <a:t> </a:t>
            </a:r>
            <a:r>
              <a:rPr lang="en-CA" dirty="0" err="1"/>
              <a:t>completo</a:t>
            </a:r>
            <a:r>
              <a:rPr lang="en-CA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217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9CBA-811D-7B05-6854-75D05815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95D77-9A85-1E12-1BF5-0CCBF6C0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2A6D9-ADBF-58F5-CBA7-B5EE88087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CA" dirty="0" err="1"/>
              <a:t>Escuché</a:t>
            </a:r>
            <a:r>
              <a:rPr lang="en-CA" dirty="0"/>
              <a:t> </a:t>
            </a:r>
            <a:r>
              <a:rPr lang="en-CA" dirty="0" err="1"/>
              <a:t>que</a:t>
            </a:r>
            <a:r>
              <a:rPr lang="en-CA" dirty="0"/>
              <a:t> la </a:t>
            </a:r>
            <a:r>
              <a:rPr lang="en-CA" dirty="0" err="1"/>
              <a:t>integración</a:t>
            </a:r>
            <a:r>
              <a:rPr lang="en-CA" dirty="0"/>
              <a:t> </a:t>
            </a:r>
            <a:r>
              <a:rPr lang="en-CA" dirty="0" err="1"/>
              <a:t>financiera</a:t>
            </a:r>
            <a:r>
              <a:rPr lang="en-CA" dirty="0"/>
              <a:t> </a:t>
            </a:r>
            <a:r>
              <a:rPr lang="en-CA" dirty="0" err="1"/>
              <a:t>podría</a:t>
            </a:r>
            <a:r>
              <a:rPr lang="en-CA" dirty="0"/>
              <a:t> ser </a:t>
            </a:r>
            <a:r>
              <a:rPr lang="en-CA" dirty="0" err="1"/>
              <a:t>contraintuitivamente</a:t>
            </a:r>
            <a:r>
              <a:rPr lang="en-CA" dirty="0"/>
              <a:t> </a:t>
            </a:r>
            <a:r>
              <a:rPr lang="en-CA" dirty="0" err="1"/>
              <a:t>perjudicial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algunos</a:t>
            </a:r>
            <a:r>
              <a:rPr lang="en-CA" dirty="0"/>
              <a:t> </a:t>
            </a:r>
            <a:r>
              <a:rPr lang="en-CA" dirty="0" err="1"/>
              <a:t>casos</a:t>
            </a:r>
            <a:r>
              <a:rPr lang="en-CA" dirty="0"/>
              <a:t>. Por </a:t>
            </a:r>
            <a:r>
              <a:rPr lang="en-CA" dirty="0" err="1"/>
              <a:t>ejemplo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Brasil</a:t>
            </a:r>
            <a:r>
              <a:rPr lang="en-CA" dirty="0"/>
              <a:t> gran </a:t>
            </a:r>
            <a:r>
              <a:rPr lang="en-CA" dirty="0" err="1"/>
              <a:t>parte</a:t>
            </a:r>
            <a:r>
              <a:rPr lang="en-CA" dirty="0"/>
              <a:t> de las </a:t>
            </a:r>
            <a:r>
              <a:rPr lang="en-CA" dirty="0" err="1"/>
              <a:t>transferencias</a:t>
            </a:r>
            <a:r>
              <a:rPr lang="en-CA" dirty="0"/>
              <a:t> del </a:t>
            </a:r>
            <a:r>
              <a:rPr lang="en-CA" dirty="0" err="1"/>
              <a:t>estado</a:t>
            </a:r>
            <a:r>
              <a:rPr lang="en-CA" dirty="0"/>
              <a:t> </a:t>
            </a:r>
            <a:r>
              <a:rPr lang="en-CA" dirty="0" err="1"/>
              <a:t>terminan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plataformas</a:t>
            </a:r>
            <a:r>
              <a:rPr lang="en-CA" dirty="0"/>
              <a:t> de </a:t>
            </a:r>
            <a:r>
              <a:rPr lang="en-CA" dirty="0" err="1"/>
              <a:t>apuestas</a:t>
            </a:r>
            <a:r>
              <a:rPr lang="en-CA" dirty="0"/>
              <a:t>. </a:t>
            </a:r>
            <a:r>
              <a:rPr lang="en-CA" dirty="0" err="1"/>
              <a:t>Podrías</a:t>
            </a:r>
            <a:r>
              <a:rPr lang="en-CA" dirty="0"/>
              <a:t> </a:t>
            </a:r>
            <a:r>
              <a:rPr lang="en-CA" dirty="0" err="1"/>
              <a:t>darme</a:t>
            </a:r>
            <a:r>
              <a:rPr lang="en-CA" dirty="0"/>
              <a:t> </a:t>
            </a:r>
            <a:r>
              <a:rPr lang="en-CA" dirty="0" err="1"/>
              <a:t>los</a:t>
            </a:r>
            <a:r>
              <a:rPr lang="en-CA" dirty="0"/>
              <a:t> </a:t>
            </a:r>
            <a:r>
              <a:rPr lang="en-CA" dirty="0" err="1"/>
              <a:t>datos</a:t>
            </a:r>
            <a:r>
              <a:rPr lang="en-CA" dirty="0"/>
              <a:t> </a:t>
            </a:r>
            <a:r>
              <a:rPr lang="en-CA" dirty="0" err="1"/>
              <a:t>concretos</a:t>
            </a:r>
            <a:r>
              <a:rPr lang="en-CA" dirty="0"/>
              <a:t> </a:t>
            </a:r>
            <a:r>
              <a:rPr lang="en-CA" dirty="0" err="1"/>
              <a:t>sobre</a:t>
            </a:r>
            <a:r>
              <a:rPr lang="en-CA" dirty="0"/>
              <a:t> </a:t>
            </a:r>
            <a:r>
              <a:rPr lang="en-CA" dirty="0" err="1"/>
              <a:t>esto</a:t>
            </a:r>
            <a:r>
              <a:rPr lang="en-CA" dirty="0"/>
              <a:t> y </a:t>
            </a:r>
            <a:r>
              <a:rPr lang="en-CA" dirty="0" err="1"/>
              <a:t>elaborar</a:t>
            </a:r>
            <a:r>
              <a:rPr lang="en-CA" dirty="0"/>
              <a:t> un </a:t>
            </a:r>
            <a:r>
              <a:rPr lang="en-CA" dirty="0" err="1"/>
              <a:t>reporte</a:t>
            </a:r>
            <a:r>
              <a:rPr lang="en-CA" dirty="0"/>
              <a:t> </a:t>
            </a:r>
            <a:r>
              <a:rPr lang="en-CA" dirty="0" err="1"/>
              <a:t>más</a:t>
            </a:r>
            <a:r>
              <a:rPr lang="en-CA" dirty="0"/>
              <a:t> </a:t>
            </a:r>
            <a:r>
              <a:rPr lang="en-CA" dirty="0" err="1"/>
              <a:t>completo</a:t>
            </a:r>
            <a:r>
              <a:rPr lang="en-CA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87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055-5466-3151-71B2-DD2BDB41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1B30D-25E3-07A9-14ED-E4D2B625D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7EE5E-23A5-3119-BA5C-B46BCD0E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deepmind.google</a:t>
            </a:r>
            <a:r>
              <a:rPr lang="en-US" dirty="0"/>
              <a:t>/models/</a:t>
            </a:r>
            <a:r>
              <a:rPr lang="en-US" dirty="0" err="1"/>
              <a:t>gemini</a:t>
            </a:r>
            <a:r>
              <a:rPr lang="en-US" dirty="0"/>
              <a:t>/pro/</a:t>
            </a:r>
          </a:p>
        </p:txBody>
      </p:sp>
    </p:spTree>
    <p:extLst>
      <p:ext uri="{BB962C8B-B14F-4D97-AF65-F5344CB8AC3E}">
        <p14:creationId xmlns:p14="http://schemas.microsoft.com/office/powerpoint/2010/main" val="26280002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C8F5-D476-0575-6CC1-973DB52E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AD75E-FC11-F03D-2ABA-F4FB773C1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449BA-CF18-1AF3-D684-623627669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livebench.ai</a:t>
            </a:r>
            <a:r>
              <a:rPr lang="en-US" dirty="0"/>
              <a:t>/#/?</a:t>
            </a:r>
            <a:r>
              <a:rPr lang="en-US" dirty="0" err="1"/>
              <a:t>highunseenbias</a:t>
            </a:r>
            <a:r>
              <a:rPr lang="en-US" dirty="0"/>
              <a:t>=true</a:t>
            </a:r>
          </a:p>
        </p:txBody>
      </p:sp>
    </p:spTree>
    <p:extLst>
      <p:ext uri="{BB962C8B-B14F-4D97-AF65-F5344CB8AC3E}">
        <p14:creationId xmlns:p14="http://schemas.microsoft.com/office/powerpoint/2010/main" val="2208484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F80C-2AF4-CE6C-C155-C02F5B1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9F11B-4F29-23CF-B24D-9D0DE3E91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9361E-E7E5-1B58-55E2-D5CD6A693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71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4AC7-D313-CDD9-FAF7-0F299E7E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E1EF0-1B4F-A6AB-3B07-753329C80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73002-BE9C-CC1F-5EC1-E76F1F64F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88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4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</a:t>
            </a:r>
            <a:r>
              <a:rPr lang="es-ES_tradnl" sz="44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</a:t>
            </a:r>
            <a:r>
              <a:rPr lang="es-ES_tradnl" sz="4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con </a:t>
            </a:r>
            <a:r>
              <a:rPr lang="es-ES_tradnl" sz="44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endParaRPr lang="es-ES_tradnl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</a:t>
            </a:r>
            <a:endParaRPr lang="es-ES_tradnl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36576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Python</a:t>
            </a:r>
          </a:p>
          <a:p>
            <a:pPr marL="0" indent="0">
              <a:buNone/>
            </a:pPr>
            <a:r>
              <a:rPr lang="es-ES_tradnl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Gómez Tobón </a:t>
            </a:r>
          </a:p>
          <a:p>
            <a:pPr marL="0" indent="0">
              <a:buNone/>
            </a:pPr>
            <a:r>
              <a:rPr lang="es-ES_tradnl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s-ES_tradnl" sz="140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2918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AD431487-E96E-7294-5035-DBE7697F5698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s-ES_tradnl" sz="36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7A7A4-53EF-BF5F-5221-9EFC3EEF880B}"/>
              </a:ext>
            </a:extLst>
          </p:cNvPr>
          <p:cNvSpPr txBox="1"/>
          <p:nvPr/>
        </p:nvSpPr>
        <p:spPr>
          <a:xfrm>
            <a:off x="548640" y="1288751"/>
            <a:ext cx="74249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Qué</a:t>
            </a:r>
            <a:r>
              <a:rPr lang="en-US" dirty="0"/>
              <a:t> es la GenAI?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Breve </a:t>
            </a:r>
            <a:r>
              <a:rPr lang="en-US" dirty="0" err="1"/>
              <a:t>historia</a:t>
            </a:r>
            <a:r>
              <a:rPr lang="en-US" dirty="0"/>
              <a:t> de la evolución de la GenAI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programación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Antes y </a:t>
            </a:r>
            <a:r>
              <a:rPr lang="en-US" dirty="0" err="1"/>
              <a:t>después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r>
              <a:rPr lang="en-US" dirty="0"/>
              <a:t> con GenAI.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Vibe Coding?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Propiedades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LLMs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Prompt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Ejemplo</a:t>
            </a:r>
            <a:r>
              <a:rPr lang="en-US" dirty="0"/>
              <a:t>: Google search vs LLM query vs AI Powered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42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la </a:t>
            </a:r>
            <a:r>
              <a:rPr lang="es-ES_tradnl" sz="36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s-ES_tradnl" sz="36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0799-6887-1954-1945-B5919715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A3D394-0BBA-D24C-0D57-710DBD2C3043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43C6EC-0812-AFF1-A244-7DC15E0E1206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la </a:t>
            </a:r>
            <a:r>
              <a:rPr lang="es-ES_tradnl" sz="36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s-ES_tradnl" sz="3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AC905C2-9AD1-1F36-7C4D-0E8FE23F483D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649176-7489-A82D-0D29-58FEDAFC7DDF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7ED886-82FD-D6DA-620F-0623FA801C2C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D581626-6E54-93EC-DF94-5F1F231B74ED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28F9BF1-84B9-BD4E-62A7-687FD114735C}"/>
              </a:ext>
            </a:extLst>
          </p:cNvPr>
          <p:cNvSpPr/>
          <p:nvPr/>
        </p:nvSpPr>
        <p:spPr>
          <a:xfrm>
            <a:off x="548640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BBD98A2-9945-19E3-8E56-A14CD030AA24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7DF229-D94F-8280-2A0E-384CA459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667" y="1024480"/>
            <a:ext cx="4730026" cy="35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0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C60D-DD1B-69E5-4D49-BB30F886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C61612-BA9E-1A57-57B6-1CBD1A83CD67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73E07E-945E-0A69-05BA-A5B3F4706550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evolución de la </a:t>
            </a:r>
            <a:r>
              <a:rPr lang="es-ES_tradnl" sz="28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 la programación</a:t>
            </a:r>
            <a:endParaRPr lang="es-ES_tradnl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1F6F117-5B67-0AE6-411D-993DBCF3DBF6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22B4BBE-D335-9364-B5B8-0482AAA877B0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B77E81F-C4C3-D371-5440-FCC8AF93D44C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0ECF1C5-6D26-74E6-EE17-815573911DF8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D590CC7-9822-C58C-93DD-D151EF3FA2E5}"/>
              </a:ext>
            </a:extLst>
          </p:cNvPr>
          <p:cNvSpPr/>
          <p:nvPr/>
        </p:nvSpPr>
        <p:spPr>
          <a:xfrm>
            <a:off x="493776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DA9D578-FE0A-96F3-AD8D-DCF53BB1196A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050" name="Picture 2" descr="How to Control Autocorrect &amp; Predictive Text on iPhone">
            <a:extLst>
              <a:ext uri="{FF2B5EF4-FFF2-40B4-BE49-F238E27FC236}">
                <a16:creationId xmlns:a16="http://schemas.microsoft.com/office/drawing/2014/main" id="{C2DE9DC6-5237-1E5F-C8BB-76094CA3E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13" y="1382130"/>
            <a:ext cx="2274340" cy="151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A1E6B2-CF9B-6386-C4C1-CB5F10379899}"/>
              </a:ext>
            </a:extLst>
          </p:cNvPr>
          <p:cNvSpPr txBox="1"/>
          <p:nvPr/>
        </p:nvSpPr>
        <p:spPr>
          <a:xfrm>
            <a:off x="493776" y="2952652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Text </a:t>
            </a:r>
            <a:r>
              <a:rPr lang="es-ES_tradnl" sz="1100" noProof="0" dirty="0" err="1"/>
              <a:t>Completion</a:t>
            </a:r>
            <a:r>
              <a:rPr lang="es-ES_tradnl" sz="1100" noProof="0" dirty="0"/>
              <a:t> (1995 -&gt; 2010)</a:t>
            </a:r>
          </a:p>
        </p:txBody>
      </p:sp>
    </p:spTree>
    <p:extLst>
      <p:ext uri="{BB962C8B-B14F-4D97-AF65-F5344CB8AC3E}">
        <p14:creationId xmlns:p14="http://schemas.microsoft.com/office/powerpoint/2010/main" val="173102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8CB00-403D-AC7B-B6F1-773EA4A9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C1CCC1-B447-A480-EC24-939EFCCFCDE2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B65A75-F729-2A38-A917-76C20FAD41BD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evolución de la </a:t>
            </a:r>
            <a:r>
              <a:rPr lang="es-ES_tradnl" sz="28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 la programación</a:t>
            </a:r>
            <a:endParaRPr lang="es-ES_tradnl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2DBC18-6BD2-D995-661F-D12CE22230DC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B5BCB7-137F-2552-D196-8400821D67E8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4C50D99-1762-59C8-BDD4-EAA6705F0FF9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AF5E96F-2AA2-E054-4A85-5E739B94889C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C23A7C7-FC06-EFED-264C-C1CC30706EA7}"/>
              </a:ext>
            </a:extLst>
          </p:cNvPr>
          <p:cNvSpPr/>
          <p:nvPr/>
        </p:nvSpPr>
        <p:spPr>
          <a:xfrm>
            <a:off x="493776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90CA9FF-FCDE-1B3F-441D-4EE5686ED6FE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050" name="Picture 2" descr="How to Control Autocorrect &amp; Predictive Text on iPhone">
            <a:extLst>
              <a:ext uri="{FF2B5EF4-FFF2-40B4-BE49-F238E27FC236}">
                <a16:creationId xmlns:a16="http://schemas.microsoft.com/office/drawing/2014/main" id="{E88D63E0-5497-FF24-64D7-9B9D6F958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13" y="1382130"/>
            <a:ext cx="2274340" cy="151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completion not working in Quarto for Visual Studio Code - General -  Posit Community">
            <a:extLst>
              <a:ext uri="{FF2B5EF4-FFF2-40B4-BE49-F238E27FC236}">
                <a16:creationId xmlns:a16="http://schemas.microsoft.com/office/drawing/2014/main" id="{F12926FB-F2FF-531A-C852-A737037AD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60" y="1339848"/>
            <a:ext cx="2792487" cy="160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44A43C-8FC7-EA9F-6F50-22E45E178146}"/>
              </a:ext>
            </a:extLst>
          </p:cNvPr>
          <p:cNvSpPr txBox="1"/>
          <p:nvPr/>
        </p:nvSpPr>
        <p:spPr>
          <a:xfrm>
            <a:off x="493776" y="2952652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Text </a:t>
            </a:r>
            <a:r>
              <a:rPr lang="es-ES_tradnl" sz="1100" noProof="0" dirty="0" err="1"/>
              <a:t>Completion</a:t>
            </a:r>
            <a:r>
              <a:rPr lang="es-ES_tradnl" sz="1100" noProof="0" dirty="0"/>
              <a:t> (1995 -&gt; 2010)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399C5-3627-8A37-64CF-521A3A14CFE5}"/>
              </a:ext>
            </a:extLst>
          </p:cNvPr>
          <p:cNvSpPr txBox="1"/>
          <p:nvPr/>
        </p:nvSpPr>
        <p:spPr>
          <a:xfrm>
            <a:off x="3586249" y="2932550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(1985 -&gt; 2018)</a:t>
            </a:r>
          </a:p>
        </p:txBody>
      </p:sp>
    </p:spTree>
    <p:extLst>
      <p:ext uri="{BB962C8B-B14F-4D97-AF65-F5344CB8AC3E}">
        <p14:creationId xmlns:p14="http://schemas.microsoft.com/office/powerpoint/2010/main" val="423146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2697-9AD2-E3C2-9FAE-74CF8B531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99B2D8-359F-5542-D9C2-B193FB481392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A46557-4319-28C7-99C3-08015F2D1D9B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evolución de la </a:t>
            </a:r>
            <a:r>
              <a:rPr lang="es-ES_tradnl" sz="28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 la programación</a:t>
            </a:r>
            <a:endParaRPr lang="es-ES_tradnl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78726D-DB7D-E9BA-7C96-35BD3AA5CC55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60D20D-7537-7271-DC10-E58031BE073C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9581D1-E467-FDDC-D3EB-66785FA73641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7D773C5-A31A-F404-30E0-7C071D727421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F43326E-57B1-2630-FC74-388B8EADBC24}"/>
              </a:ext>
            </a:extLst>
          </p:cNvPr>
          <p:cNvSpPr/>
          <p:nvPr/>
        </p:nvSpPr>
        <p:spPr>
          <a:xfrm>
            <a:off x="493776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FAE7863-FA8F-92B7-440C-5A0C17786E34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050" name="Picture 2" descr="How to Control Autocorrect &amp; Predictive Text on iPhone">
            <a:extLst>
              <a:ext uri="{FF2B5EF4-FFF2-40B4-BE49-F238E27FC236}">
                <a16:creationId xmlns:a16="http://schemas.microsoft.com/office/drawing/2014/main" id="{597237C6-C6EF-CD5F-6FB9-2FF535D4D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13" y="1382130"/>
            <a:ext cx="2274340" cy="151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completion not working in Quarto for Visual Studio Code - General -  Posit Community">
            <a:extLst>
              <a:ext uri="{FF2B5EF4-FFF2-40B4-BE49-F238E27FC236}">
                <a16:creationId xmlns:a16="http://schemas.microsoft.com/office/drawing/2014/main" id="{5A680DBA-5346-5C15-83DA-22214198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60" y="1339848"/>
            <a:ext cx="2792487" cy="160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me Experiments using GitHub Copilot with Python | Towards Data Science">
            <a:extLst>
              <a:ext uri="{FF2B5EF4-FFF2-40B4-BE49-F238E27FC236}">
                <a16:creationId xmlns:a16="http://schemas.microsoft.com/office/drawing/2014/main" id="{C9363C61-ED6B-6D67-F3C1-FE0763A42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522" y="1418981"/>
            <a:ext cx="2189245" cy="13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BC3256-74CC-2544-C4A4-6919CCCEF6DA}"/>
              </a:ext>
            </a:extLst>
          </p:cNvPr>
          <p:cNvSpPr txBox="1"/>
          <p:nvPr/>
        </p:nvSpPr>
        <p:spPr>
          <a:xfrm>
            <a:off x="6735530" y="2823659"/>
            <a:ext cx="1765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/>
              <a:t>GitHub </a:t>
            </a:r>
            <a:r>
              <a:rPr lang="es-ES_tradnl" sz="1100" noProof="0" dirty="0" err="1"/>
              <a:t>Copilot</a:t>
            </a:r>
            <a:r>
              <a:rPr lang="es-ES_tradnl" sz="1100" noProof="0" dirty="0"/>
              <a:t> (Junio 2021)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02726-BEED-F9D2-8439-38CAA3957EFC}"/>
              </a:ext>
            </a:extLst>
          </p:cNvPr>
          <p:cNvSpPr txBox="1"/>
          <p:nvPr/>
        </p:nvSpPr>
        <p:spPr>
          <a:xfrm>
            <a:off x="493776" y="2952652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Text </a:t>
            </a:r>
            <a:r>
              <a:rPr lang="es-ES_tradnl" sz="1100" noProof="0" dirty="0" err="1"/>
              <a:t>Completion</a:t>
            </a:r>
            <a:r>
              <a:rPr lang="es-ES_tradnl" sz="1100" noProof="0" dirty="0"/>
              <a:t> (1995 -&gt; 2010)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1BB7A-455F-7739-0C53-A200D19E6530}"/>
              </a:ext>
            </a:extLst>
          </p:cNvPr>
          <p:cNvSpPr txBox="1"/>
          <p:nvPr/>
        </p:nvSpPr>
        <p:spPr>
          <a:xfrm>
            <a:off x="3504327" y="2901865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(1985 -&gt; 2018)</a:t>
            </a:r>
          </a:p>
        </p:txBody>
      </p:sp>
    </p:spTree>
    <p:extLst>
      <p:ext uri="{BB962C8B-B14F-4D97-AF65-F5344CB8AC3E}">
        <p14:creationId xmlns:p14="http://schemas.microsoft.com/office/powerpoint/2010/main" val="218558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89D9-F46A-6B76-2E4F-07A4BF5F8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170C96-A3C8-8C18-41C8-DF9F063D8286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C45E58-6B31-8449-DAC1-19B5FC328EE8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evolución de la </a:t>
            </a:r>
            <a:r>
              <a:rPr lang="es-ES_tradnl" sz="28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 la programación</a:t>
            </a:r>
            <a:endParaRPr lang="es-ES_tradnl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CA05DB-84FA-078A-62EC-8387A51E23B3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20F22B-1EE3-D1A5-4940-5520C09DD40F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5C66D08-8AD4-A289-A870-7AD7AA69681F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711AD61-7AF9-DB67-CD1C-7EE44078A806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3EF759-8399-B802-A19F-01741D775A93}"/>
              </a:ext>
            </a:extLst>
          </p:cNvPr>
          <p:cNvSpPr/>
          <p:nvPr/>
        </p:nvSpPr>
        <p:spPr>
          <a:xfrm>
            <a:off x="493776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5E3810-3B59-6A4B-E016-A828E1C7207B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050" name="Picture 2" descr="How to Control Autocorrect &amp; Predictive Text on iPhone">
            <a:extLst>
              <a:ext uri="{FF2B5EF4-FFF2-40B4-BE49-F238E27FC236}">
                <a16:creationId xmlns:a16="http://schemas.microsoft.com/office/drawing/2014/main" id="{D91EB94B-FAD0-0448-3144-47C39CA19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13" y="1118239"/>
            <a:ext cx="2274340" cy="151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completion not working in Quarto for Visual Studio Code - General -  Posit Community">
            <a:extLst>
              <a:ext uri="{FF2B5EF4-FFF2-40B4-BE49-F238E27FC236}">
                <a16:creationId xmlns:a16="http://schemas.microsoft.com/office/drawing/2014/main" id="{C7377F6D-343A-5D0C-5A6F-D4DA50BB3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60" y="1075957"/>
            <a:ext cx="2792487" cy="160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me Experiments using GitHub Copilot with Python | Towards Data Science">
            <a:extLst>
              <a:ext uri="{FF2B5EF4-FFF2-40B4-BE49-F238E27FC236}">
                <a16:creationId xmlns:a16="http://schemas.microsoft.com/office/drawing/2014/main" id="{C212E9F6-C418-0215-FC45-252E5ADB2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522" y="1155090"/>
            <a:ext cx="2189245" cy="13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19DAA-5D20-6A3A-B48B-BDECE5F4DCF6}"/>
              </a:ext>
            </a:extLst>
          </p:cNvPr>
          <p:cNvSpPr txBox="1"/>
          <p:nvPr/>
        </p:nvSpPr>
        <p:spPr>
          <a:xfrm>
            <a:off x="6735530" y="2559768"/>
            <a:ext cx="1765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/>
              <a:t>GitHub </a:t>
            </a:r>
            <a:r>
              <a:rPr lang="es-ES_tradnl" sz="1100" noProof="0" dirty="0" err="1"/>
              <a:t>Copilot</a:t>
            </a:r>
            <a:r>
              <a:rPr lang="es-ES_tradnl" sz="1100" noProof="0" dirty="0"/>
              <a:t> (Junio 2021)</a:t>
            </a:r>
          </a:p>
        </p:txBody>
      </p:sp>
      <p:pic>
        <p:nvPicPr>
          <p:cNvPr id="2056" name="Picture 8" descr="How to Use ChatGPT for Python (2023)">
            <a:extLst>
              <a:ext uri="{FF2B5EF4-FFF2-40B4-BE49-F238E27FC236}">
                <a16:creationId xmlns:a16="http://schemas.microsoft.com/office/drawing/2014/main" id="{BF4A1BCC-EB1B-FCC8-A123-AE08E1C25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535" y="3065467"/>
            <a:ext cx="2427044" cy="173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D515CD-FA51-8691-384B-F233FC178842}"/>
              </a:ext>
            </a:extLst>
          </p:cNvPr>
          <p:cNvSpPr txBox="1"/>
          <p:nvPr/>
        </p:nvSpPr>
        <p:spPr>
          <a:xfrm>
            <a:off x="1808019" y="4821390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 err="1"/>
              <a:t>ChatGPT</a:t>
            </a:r>
            <a:r>
              <a:rPr lang="es-ES_tradnl" sz="1100" noProof="0" dirty="0"/>
              <a:t> (Noviembre 2022)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5B991-8196-D448-7E1D-29ADE42BDE6B}"/>
              </a:ext>
            </a:extLst>
          </p:cNvPr>
          <p:cNvSpPr txBox="1"/>
          <p:nvPr/>
        </p:nvSpPr>
        <p:spPr>
          <a:xfrm>
            <a:off x="493776" y="2688761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Text </a:t>
            </a:r>
            <a:r>
              <a:rPr lang="es-ES_tradnl" sz="1100" noProof="0" dirty="0" err="1"/>
              <a:t>Completion</a:t>
            </a:r>
            <a:r>
              <a:rPr lang="es-ES_tradnl" sz="1100" noProof="0" dirty="0"/>
              <a:t> (1995 -&gt; 2010)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2AD23-425C-210B-8D0F-25D041174653}"/>
              </a:ext>
            </a:extLst>
          </p:cNvPr>
          <p:cNvSpPr txBox="1"/>
          <p:nvPr/>
        </p:nvSpPr>
        <p:spPr>
          <a:xfrm>
            <a:off x="3586249" y="2619203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(1985 -&gt; 2018)</a:t>
            </a:r>
          </a:p>
        </p:txBody>
      </p:sp>
    </p:spTree>
    <p:extLst>
      <p:ext uri="{BB962C8B-B14F-4D97-AF65-F5344CB8AC3E}">
        <p14:creationId xmlns:p14="http://schemas.microsoft.com/office/powerpoint/2010/main" val="965058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D400-E2B1-3607-6E05-8821FE8B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ADCD39-2F8E-AC80-D1A8-9952278ADECD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496E51-649B-3E32-866B-5C80CA030C72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evolución de la </a:t>
            </a:r>
            <a:r>
              <a:rPr lang="es-ES_tradnl" sz="28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r>
              <a:rPr lang="es-ES_tradnl" sz="28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 la programación</a:t>
            </a:r>
            <a:endParaRPr lang="es-ES_tradnl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C2BB43-F3C7-8E64-DA4E-6B76B9A312E6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1075393-1046-ADA6-CB6B-75863B3FD17D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FC41207-7F1D-FD8B-3821-E50091145B1E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D216C9E-E869-EF9E-01EB-28F2F725A385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BD9F3D6-0001-BE64-E105-B8934157DE1F}"/>
              </a:ext>
            </a:extLst>
          </p:cNvPr>
          <p:cNvSpPr/>
          <p:nvPr/>
        </p:nvSpPr>
        <p:spPr>
          <a:xfrm>
            <a:off x="493776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D78D357-DC05-CB5F-DB97-883652CBE7EA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050" name="Picture 2" descr="How to Control Autocorrect &amp; Predictive Text on iPhone">
            <a:extLst>
              <a:ext uri="{FF2B5EF4-FFF2-40B4-BE49-F238E27FC236}">
                <a16:creationId xmlns:a16="http://schemas.microsoft.com/office/drawing/2014/main" id="{1C4BBC12-96BF-5371-C68F-2DA17ED25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13" y="1118239"/>
            <a:ext cx="2274340" cy="151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completion not working in Quarto for Visual Studio Code - General -  Posit Community">
            <a:extLst>
              <a:ext uri="{FF2B5EF4-FFF2-40B4-BE49-F238E27FC236}">
                <a16:creationId xmlns:a16="http://schemas.microsoft.com/office/drawing/2014/main" id="{8C148EA0-F5AF-25E2-2DC6-0307B8A0E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60" y="1075957"/>
            <a:ext cx="2792487" cy="160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me Experiments using GitHub Copilot with Python | Towards Data Science">
            <a:extLst>
              <a:ext uri="{FF2B5EF4-FFF2-40B4-BE49-F238E27FC236}">
                <a16:creationId xmlns:a16="http://schemas.microsoft.com/office/drawing/2014/main" id="{D0E461B1-C9BD-EA78-D072-7F4F99CE4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522" y="1155090"/>
            <a:ext cx="2189245" cy="13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06C49-BAA6-5B42-4B6C-44719DD1CB41}"/>
              </a:ext>
            </a:extLst>
          </p:cNvPr>
          <p:cNvSpPr txBox="1"/>
          <p:nvPr/>
        </p:nvSpPr>
        <p:spPr>
          <a:xfrm>
            <a:off x="6735530" y="2559768"/>
            <a:ext cx="1765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/>
              <a:t>GitHub </a:t>
            </a:r>
            <a:r>
              <a:rPr lang="es-ES_tradnl" sz="1100" noProof="0" dirty="0" err="1"/>
              <a:t>Copilot</a:t>
            </a:r>
            <a:r>
              <a:rPr lang="es-ES_tradnl" sz="1100" noProof="0" dirty="0"/>
              <a:t> (Junio 2021)</a:t>
            </a:r>
          </a:p>
        </p:txBody>
      </p:sp>
      <p:pic>
        <p:nvPicPr>
          <p:cNvPr id="2056" name="Picture 8" descr="How to Use ChatGPT for Python (2023)">
            <a:extLst>
              <a:ext uri="{FF2B5EF4-FFF2-40B4-BE49-F238E27FC236}">
                <a16:creationId xmlns:a16="http://schemas.microsoft.com/office/drawing/2014/main" id="{6B3D8C5C-913D-01B1-24E4-682D3CA6C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535" y="3065467"/>
            <a:ext cx="2427044" cy="173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069F5D-DC1C-146C-3DDB-37274BB488D8}"/>
              </a:ext>
            </a:extLst>
          </p:cNvPr>
          <p:cNvSpPr txBox="1"/>
          <p:nvPr/>
        </p:nvSpPr>
        <p:spPr>
          <a:xfrm>
            <a:off x="1808019" y="4821390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 err="1"/>
              <a:t>ChatGPT</a:t>
            </a:r>
            <a:r>
              <a:rPr lang="es-ES_tradnl" sz="1100" noProof="0" dirty="0"/>
              <a:t> (Noviembre 2022)</a:t>
            </a:r>
          </a:p>
        </p:txBody>
      </p:sp>
      <p:pic>
        <p:nvPicPr>
          <p:cNvPr id="2058" name="Picture 10" descr="Agentic Reinforcement Learning for Code: KAT‑Dev‑32B Explained">
            <a:extLst>
              <a:ext uri="{FF2B5EF4-FFF2-40B4-BE49-F238E27FC236}">
                <a16:creationId xmlns:a16="http://schemas.microsoft.com/office/drawing/2014/main" id="{94066CC2-3EF3-A1E5-48BC-142FEDBE2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40" y="3291840"/>
            <a:ext cx="1937904" cy="129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71581D-C1D3-5A3B-71E2-D6FAAD5C60C6}"/>
              </a:ext>
            </a:extLst>
          </p:cNvPr>
          <p:cNvSpPr txBox="1"/>
          <p:nvPr/>
        </p:nvSpPr>
        <p:spPr>
          <a:xfrm>
            <a:off x="5101234" y="4795313"/>
            <a:ext cx="3010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 err="1"/>
              <a:t>Agentic</a:t>
            </a:r>
            <a:r>
              <a:rPr lang="es-ES_tradnl" sz="1100" noProof="0" dirty="0"/>
              <a:t> </a:t>
            </a:r>
            <a:r>
              <a:rPr lang="es-ES_tradnl" sz="1100" noProof="0" dirty="0" err="1"/>
              <a:t>Coding</a:t>
            </a:r>
            <a:r>
              <a:rPr lang="es-ES_tradnl" sz="1100" noProof="0" dirty="0"/>
              <a:t> (2024-2025)</a:t>
            </a:r>
          </a:p>
        </p:txBody>
      </p:sp>
      <p:pic>
        <p:nvPicPr>
          <p:cNvPr id="2060" name="Picture 12" descr="Don't deploy OpenClaw without securing it - Try this opensource solution  and hands-on lab - Cisco Blogs">
            <a:extLst>
              <a:ext uri="{FF2B5EF4-FFF2-40B4-BE49-F238E27FC236}">
                <a16:creationId xmlns:a16="http://schemas.microsoft.com/office/drawing/2014/main" id="{385AC726-ABA2-C92C-39E2-C38C3259F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378" y="3320497"/>
            <a:ext cx="787977" cy="47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ursor · Download">
            <a:extLst>
              <a:ext uri="{FF2B5EF4-FFF2-40B4-BE49-F238E27FC236}">
                <a16:creationId xmlns:a16="http://schemas.microsoft.com/office/drawing/2014/main" id="{A50ABC44-8FDD-A7CA-F6DE-FA75485CF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182" y="4011018"/>
            <a:ext cx="355023" cy="35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Claude Code: From Zero to Hero. What is Claude Code? | by Daniel Avila |  Medium">
            <a:extLst>
              <a:ext uri="{FF2B5EF4-FFF2-40B4-BE49-F238E27FC236}">
                <a16:creationId xmlns:a16="http://schemas.microsoft.com/office/drawing/2014/main" id="{D86A39BE-751C-1196-2AC4-CBD2DDCE3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389" y="3696971"/>
            <a:ext cx="841928" cy="472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11B1B6-A881-6094-65A4-0C56143BBDF1}"/>
              </a:ext>
            </a:extLst>
          </p:cNvPr>
          <p:cNvSpPr txBox="1"/>
          <p:nvPr/>
        </p:nvSpPr>
        <p:spPr>
          <a:xfrm>
            <a:off x="493776" y="2688761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Text </a:t>
            </a:r>
            <a:r>
              <a:rPr lang="es-ES_tradnl" sz="1100" noProof="0" dirty="0" err="1"/>
              <a:t>Completion</a:t>
            </a:r>
            <a:r>
              <a:rPr lang="es-ES_tradnl" sz="1100" noProof="0" dirty="0"/>
              <a:t> (1995 -&gt; 2010)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D1151-B5C5-69D3-9FFB-0FED6CCF7A64}"/>
              </a:ext>
            </a:extLst>
          </p:cNvPr>
          <p:cNvSpPr txBox="1"/>
          <p:nvPr/>
        </p:nvSpPr>
        <p:spPr>
          <a:xfrm>
            <a:off x="3586249" y="2619203"/>
            <a:ext cx="2154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noProof="0" dirty="0"/>
              <a:t>(1985 -&gt; 2018)</a:t>
            </a:r>
          </a:p>
        </p:txBody>
      </p:sp>
    </p:spTree>
    <p:extLst>
      <p:ext uri="{BB962C8B-B14F-4D97-AF65-F5344CB8AC3E}">
        <p14:creationId xmlns:p14="http://schemas.microsoft.com/office/powerpoint/2010/main" val="217610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D138-4331-3296-2CD3-4D4E9ABC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523DBC-8425-C038-0832-00132A0CE2D0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4516C0-AF6A-B747-4D65-185FCABAEEF9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cambió con la aparición de los LLM?</a:t>
            </a:r>
            <a:endParaRPr lang="es-ES_tradnl" sz="32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4C1E02-3978-6E7D-A16D-667E09BB46EB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BA7929B-BF17-868B-6ED0-3C89DC8A98F8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3B2140-66AF-551C-0C34-0A739E030986}"/>
              </a:ext>
            </a:extLst>
          </p:cNvPr>
          <p:cNvSpPr/>
          <p:nvPr/>
        </p:nvSpPr>
        <p:spPr>
          <a:xfrm>
            <a:off x="7772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</a:t>
            </a:r>
            <a:endParaRPr lang="es-ES_tradnl" sz="14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675938D-6567-9DA6-4196-7A7BB083E417}"/>
              </a:ext>
            </a:extLst>
          </p:cNvPr>
          <p:cNvSpPr/>
          <p:nvPr/>
        </p:nvSpPr>
        <p:spPr>
          <a:xfrm>
            <a:off x="777240" y="1645920"/>
            <a:ext cx="3291840" cy="2134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cada línea de código</a:t>
            </a:r>
            <a:endParaRPr lang="es-ES_tradnl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</a:t>
            </a:r>
            <a:r>
              <a:rPr lang="es-ES_tradnl" sz="13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es-ES_tradnl" sz="1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3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s-ES_tradnl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manual extensiva</a:t>
            </a:r>
            <a:endParaRPr lang="es-ES_tradnl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depurando errores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Especialización en lenguajes de programación.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Re implementa</a:t>
            </a:r>
            <a:r>
              <a:rPr lang="es-ES_tradnl" sz="13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ción</a:t>
            </a:r>
            <a:r>
              <a:rPr lang="es-ES_tradnl" sz="13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y migraciones altamente costosa.</a:t>
            </a:r>
            <a:endParaRPr lang="es-ES_tradnl" sz="13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B5BC76-B6B7-B8A4-1FA4-209DDDFA1563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997DBC9-A0DC-2D4A-812C-D0477687DE26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C863F4-CDCB-1D5E-87A4-0B8DD51F63D6}"/>
              </a:ext>
            </a:extLst>
          </p:cNvPr>
          <p:cNvSpPr/>
          <p:nvPr/>
        </p:nvSpPr>
        <p:spPr>
          <a:xfrm>
            <a:off x="50749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AHORA</a:t>
            </a:r>
            <a:endParaRPr lang="es-ES_tradnl" sz="14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151175D-AC60-A0F6-2547-C05BEAE3777C}"/>
              </a:ext>
            </a:extLst>
          </p:cNvPr>
          <p:cNvSpPr/>
          <p:nvPr/>
        </p:nvSpPr>
        <p:spPr>
          <a:xfrm>
            <a:off x="5074920" y="1645918"/>
            <a:ext cx="3291840" cy="315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lo que quieres → iterar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Loop</a:t>
            </a:r>
            <a:r>
              <a:rPr lang="es-ES_tradnl" sz="1300" noProof="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d</a:t>
            </a:r>
            <a:r>
              <a:rPr lang="es-ES_tradnl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ónde</a:t>
            </a:r>
            <a:r>
              <a:rPr lang="es-ES_tradnl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se construyen y destruyen muchas líneas de código y archivos hasta que se alinea el objetivo de la AI con el humano.</a:t>
            </a:r>
            <a:endParaRPr lang="es-ES_tradnl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Desentendimiento de la complejidad del proyecto.</a:t>
            </a:r>
            <a:endParaRPr lang="es-ES_tradnl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automática del proyecto (idealmente)</a:t>
            </a:r>
            <a:endParaRPr lang="es-ES_tradnl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para que agentes puedan probar, iterar y equivocarse</a:t>
            </a:r>
            <a:r>
              <a:rPr lang="es-ES_tradnl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 forma segura.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con suscripciones se vuelve casi que obligatorio.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técnica menor.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s-ES_tradnl" sz="1300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528F7A-9876-EB00-A018-6110714DE581}"/>
              </a:ext>
            </a:extLst>
          </p:cNvPr>
          <p:cNvSpPr/>
          <p:nvPr/>
        </p:nvSpPr>
        <p:spPr>
          <a:xfrm>
            <a:off x="548640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BC6C9DD-D881-9507-A1F2-A9642B2779FC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90EBF0-5BBD-2960-0783-03995DBA1F1C}"/>
              </a:ext>
            </a:extLst>
          </p:cNvPr>
          <p:cNvSpPr/>
          <p:nvPr/>
        </p:nvSpPr>
        <p:spPr>
          <a:xfrm>
            <a:off x="603504" y="4251960"/>
            <a:ext cx="2544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s-ES_tradnl" sz="1600" b="1" noProof="0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</a:t>
            </a:r>
            <a:r>
              <a:rPr lang="es-ES_tradnl" sz="16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600" b="1" noProof="0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r>
              <a:rPr lang="es-ES_tradnl" sz="16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s-ES_tradnl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(Feb 2025, Co-fundador </a:t>
            </a:r>
            <a:r>
              <a:rPr lang="es-ES_tradnl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_tradnl" sz="1600" noProof="0" dirty="0"/>
          </a:p>
        </p:txBody>
      </p:sp>
    </p:spTree>
    <p:extLst>
      <p:ext uri="{BB962C8B-B14F-4D97-AF65-F5344CB8AC3E}">
        <p14:creationId xmlns:p14="http://schemas.microsoft.com/office/powerpoint/2010/main" val="377529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2BCC-249B-2E90-C9D4-83BA7BBA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97EABC-8DD5-E660-C960-CE59D82A48EF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F3968-D092-E7F2-65F6-28E47E7C1B7F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cambió?</a:t>
            </a:r>
            <a:endParaRPr lang="es-ES_tradnl" sz="3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B661E1-3EE6-AA97-E2F2-D2F0ED03FC8A}"/>
              </a:ext>
            </a:extLst>
          </p:cNvPr>
          <p:cNvSpPr/>
          <p:nvPr/>
        </p:nvSpPr>
        <p:spPr>
          <a:xfrm>
            <a:off x="54864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1761099-0E09-DA65-1299-1165B93F9BD1}"/>
              </a:ext>
            </a:extLst>
          </p:cNvPr>
          <p:cNvSpPr/>
          <p:nvPr/>
        </p:nvSpPr>
        <p:spPr>
          <a:xfrm>
            <a:off x="548640" y="1097280"/>
            <a:ext cx="54864" cy="2011680"/>
          </a:xfrm>
          <a:prstGeom prst="lin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0EB153A-B6A7-FD9D-3DE2-A729538A8B4B}"/>
              </a:ext>
            </a:extLst>
          </p:cNvPr>
          <p:cNvSpPr/>
          <p:nvPr/>
        </p:nvSpPr>
        <p:spPr>
          <a:xfrm>
            <a:off x="4846320" y="1097280"/>
            <a:ext cx="3749040" cy="201168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0237D2-0279-D10E-4DAD-C241D4B9F80E}"/>
              </a:ext>
            </a:extLst>
          </p:cNvPr>
          <p:cNvSpPr/>
          <p:nvPr/>
        </p:nvSpPr>
        <p:spPr>
          <a:xfrm>
            <a:off x="4846320" y="1097280"/>
            <a:ext cx="54864" cy="201168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9A04E4-B0CE-6D7C-E54D-3B500DC44F0C}"/>
              </a:ext>
            </a:extLst>
          </p:cNvPr>
          <p:cNvSpPr/>
          <p:nvPr/>
        </p:nvSpPr>
        <p:spPr>
          <a:xfrm>
            <a:off x="548640" y="338328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8B69F11-FE3B-A4AA-4A89-38CA2D4A72C1}"/>
              </a:ext>
            </a:extLst>
          </p:cNvPr>
          <p:cNvSpPr/>
          <p:nvPr/>
        </p:nvSpPr>
        <p:spPr>
          <a:xfrm>
            <a:off x="548640" y="3383280"/>
            <a:ext cx="54864" cy="118872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89732D6-C8CB-B9CB-1575-6A25A81C2878}"/>
              </a:ext>
            </a:extLst>
          </p:cNvPr>
          <p:cNvSpPr/>
          <p:nvPr/>
        </p:nvSpPr>
        <p:spPr>
          <a:xfrm>
            <a:off x="603504" y="928362"/>
            <a:ext cx="3069493" cy="107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s-ES_tradnl" sz="1600" b="1" noProof="0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</a:t>
            </a:r>
            <a:r>
              <a:rPr lang="es-ES_tradnl" sz="16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600" b="1" noProof="0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r>
              <a:rPr lang="es-ES_tradnl" sz="16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s-ES_tradnl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(Feb 2025, Co-fundador </a:t>
            </a:r>
            <a:r>
              <a:rPr lang="es-ES_tradnl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es-ES_tradnl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_tradnl" sz="1600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1B05A8-C30D-1754-BEB7-EBD153555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577" y="914400"/>
            <a:ext cx="4968083" cy="371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75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45BF6-F6C5-67BE-C2F5-ECCE1909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1064ED0-ECC6-9D30-5D01-3334B22B69B8}"/>
              </a:ext>
            </a:extLst>
          </p:cNvPr>
          <p:cNvSpPr/>
          <p:nvPr/>
        </p:nvSpPr>
        <p:spPr>
          <a:xfrm>
            <a:off x="3096276" y="3691367"/>
            <a:ext cx="3703452" cy="8603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¿Cómo funcionan los LLMs?</a:t>
            </a:r>
            <a:endParaRPr lang="en-US" sz="2800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211" name="Oval 8210">
            <a:extLst>
              <a:ext uri="{FF2B5EF4-FFF2-40B4-BE49-F238E27FC236}">
                <a16:creationId xmlns:a16="http://schemas.microsoft.com/office/drawing/2014/main" id="{C20267F5-D4E6-477A-A590-81F2ABD1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8831" y="1787232"/>
            <a:ext cx="1440180" cy="144018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13" name="Freeform: Shape 8212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91663"/>
            <a:ext cx="2798064" cy="3551837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15" name="Freeform: Shape 8214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86" y="-3249"/>
            <a:ext cx="3182112" cy="184061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17" name="Freeform: Shape 8216">
            <a:extLst>
              <a:ext uri="{FF2B5EF4-FFF2-40B4-BE49-F238E27FC236}">
                <a16:creationId xmlns:a16="http://schemas.microsoft.com/office/drawing/2014/main" id="{DB6FE6A8-3E05-4C40-9190-B19BFD524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930" y="0"/>
            <a:ext cx="2935224" cy="1713925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1F3EB-0731-2F9D-DABE-9EF43B583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451" y="174106"/>
            <a:ext cx="1196181" cy="1149170"/>
          </a:xfrm>
          <a:prstGeom prst="rect">
            <a:avLst/>
          </a:prstGeom>
        </p:spPr>
      </p:pic>
      <p:sp>
        <p:nvSpPr>
          <p:cNvPr id="8219" name="Freeform: Shape 8218">
            <a:extLst>
              <a:ext uri="{FF2B5EF4-FFF2-40B4-BE49-F238E27FC236}">
                <a16:creationId xmlns:a16="http://schemas.microsoft.com/office/drawing/2014/main" id="{38315451-BA4E-4F56-BA8A-9CCCA5A0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16248"/>
            <a:ext cx="2673477" cy="3427251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21" name="Freeform: Shape 8220">
            <a:extLst>
              <a:ext uri="{FF2B5EF4-FFF2-40B4-BE49-F238E27FC236}">
                <a16:creationId xmlns:a16="http://schemas.microsoft.com/office/drawing/2014/main" id="{5665E03E-3504-4366-BFC7-0CDEDC637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2275" y="1910676"/>
            <a:ext cx="1193292" cy="1193292"/>
          </a:xfrm>
          <a:custGeom>
            <a:avLst/>
            <a:gdLst>
              <a:gd name="connsiteX0" fmla="*/ 795528 w 1591056"/>
              <a:gd name="connsiteY0" fmla="*/ 0 h 1591056"/>
              <a:gd name="connsiteX1" fmla="*/ 1591056 w 1591056"/>
              <a:gd name="connsiteY1" fmla="*/ 795528 h 1591056"/>
              <a:gd name="connsiteX2" fmla="*/ 795528 w 1591056"/>
              <a:gd name="connsiteY2" fmla="*/ 1591056 h 1591056"/>
              <a:gd name="connsiteX3" fmla="*/ 0 w 1591056"/>
              <a:gd name="connsiteY3" fmla="*/ 795528 h 1591056"/>
              <a:gd name="connsiteX4" fmla="*/ 795528 w 1591056"/>
              <a:gd name="connsiteY4" fmla="*/ 0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23" name="Oval 8222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1905" y="227909"/>
            <a:ext cx="2386584" cy="23865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25" name="Freeform: Shape 8224">
            <a:extLst>
              <a:ext uri="{FF2B5EF4-FFF2-40B4-BE49-F238E27FC236}">
                <a16:creationId xmlns:a16="http://schemas.microsoft.com/office/drawing/2014/main" id="{A9A95DA0-8F7C-4AB7-B890-22075705D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5349" y="351353"/>
            <a:ext cx="2139696" cy="2139696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27" name="Freeform: Shape 8226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4426" y="-3249"/>
            <a:ext cx="2579574" cy="2662562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29" name="Freeform: Shape 8228">
            <a:extLst>
              <a:ext uri="{FF2B5EF4-FFF2-40B4-BE49-F238E27FC236}">
                <a16:creationId xmlns:a16="http://schemas.microsoft.com/office/drawing/2014/main" id="{E2193FF3-0731-4CB1-A0ED-1F3321A42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9070" y="-3248"/>
            <a:ext cx="2454929" cy="2537918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B3519812-3B59-647E-98B1-136C76AB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1300" y="975644"/>
            <a:ext cx="984900" cy="98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laude">
            <a:extLst>
              <a:ext uri="{FF2B5EF4-FFF2-40B4-BE49-F238E27FC236}">
                <a16:creationId xmlns:a16="http://schemas.microsoft.com/office/drawing/2014/main" id="{FD3631DC-D25B-5819-9FBE-2D6F11E95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7182" y="2771867"/>
            <a:ext cx="1686206" cy="168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ChatGPT - Wikipedia">
            <a:extLst>
              <a:ext uri="{FF2B5EF4-FFF2-40B4-BE49-F238E27FC236}">
                <a16:creationId xmlns:a16="http://schemas.microsoft.com/office/drawing/2014/main" id="{C6E3FE01-9C1C-954C-3811-1DB9A86BB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7459" y="2157421"/>
            <a:ext cx="702925" cy="6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31" name="Freeform: Shape 8230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9498" y="2930563"/>
            <a:ext cx="2244502" cy="2212937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33" name="Freeform: Shape 8232">
            <a:extLst>
              <a:ext uri="{FF2B5EF4-FFF2-40B4-BE49-F238E27FC236}">
                <a16:creationId xmlns:a16="http://schemas.microsoft.com/office/drawing/2014/main" id="{A1CCC4E2-0E38-41AA-A1C5-DBB034387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22428" y="3053491"/>
            <a:ext cx="2121574" cy="2090009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204" name="Picture 12" descr="Deepseek Logo Icon SVG Vector &amp; PNG Free Download | UXWing">
            <a:extLst>
              <a:ext uri="{FF2B5EF4-FFF2-40B4-BE49-F238E27FC236}">
                <a16:creationId xmlns:a16="http://schemas.microsoft.com/office/drawing/2014/main" id="{0890EF06-B465-B0CD-9062-F4101A730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9292" y="3654518"/>
            <a:ext cx="1275193" cy="126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>
            <a:extLst>
              <a:ext uri="{FF2B5EF4-FFF2-40B4-BE49-F238E27FC236}">
                <a16:creationId xmlns:a16="http://schemas.microsoft.com/office/drawing/2014/main" id="{FDA76E42-1ACE-199A-20A0-1E27D08DB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39549" y="372679"/>
            <a:ext cx="1531744" cy="153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820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0D00A-9621-806C-3743-67176D48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473ACA2-DF76-7173-1736-5C3515E9676A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funcionan los LLMs?</a:t>
            </a:r>
            <a:endParaRPr lang="es-ES_tradnl" sz="3600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77C764-1DD8-C200-E4DC-E49C229BBBED}"/>
              </a:ext>
            </a:extLst>
          </p:cNvPr>
          <p:cNvSpPr txBox="1">
            <a:spLocks/>
          </p:cNvSpPr>
          <p:nvPr/>
        </p:nvSpPr>
        <p:spPr>
          <a:xfrm>
            <a:off x="824576" y="1177252"/>
            <a:ext cx="7677727" cy="535709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400" dirty="0" err="1"/>
              <a:t>Básicamente</a:t>
            </a:r>
            <a:r>
              <a:rPr lang="en-CA" sz="2400" dirty="0"/>
              <a:t> </a:t>
            </a:r>
            <a:r>
              <a:rPr lang="en-CA" sz="2400" dirty="0" err="1"/>
              <a:t>su</a:t>
            </a:r>
            <a:r>
              <a:rPr lang="en-CA" sz="2400" dirty="0"/>
              <a:t> </a:t>
            </a:r>
            <a:r>
              <a:rPr lang="en-CA" sz="2400" dirty="0" err="1"/>
              <a:t>rol</a:t>
            </a:r>
            <a:r>
              <a:rPr lang="en-CA" sz="2400" dirty="0"/>
              <a:t> es </a:t>
            </a:r>
            <a:r>
              <a:rPr lang="en-CA" sz="2400" dirty="0" err="1"/>
              <a:t>predecir</a:t>
            </a:r>
            <a:r>
              <a:rPr lang="en-CA" sz="2400" dirty="0"/>
              <a:t> la </a:t>
            </a:r>
            <a:r>
              <a:rPr lang="en-CA" sz="2400" dirty="0" err="1"/>
              <a:t>siguiente</a:t>
            </a:r>
            <a:r>
              <a:rPr lang="en-CA" sz="2400" dirty="0"/>
              <a:t> palabra</a:t>
            </a:r>
            <a:endParaRPr lang="es-CO" sz="24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D430E03-065B-C3EB-83C6-196A417DB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751" y="2173712"/>
            <a:ext cx="6568498" cy="198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873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DE8D2-70E4-F7D5-5260-FECD4539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F45F625-B670-6227-3D83-DD90BF832BDB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funcionan los LLMs?</a:t>
            </a:r>
            <a:endParaRPr lang="es-ES_tradnl" sz="3600" noProof="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F4F3C6C-1EF0-652E-30ED-D8AFB85130CC}"/>
              </a:ext>
            </a:extLst>
          </p:cNvPr>
          <p:cNvSpPr txBox="1">
            <a:spLocks/>
          </p:cNvSpPr>
          <p:nvPr/>
        </p:nvSpPr>
        <p:spPr>
          <a:xfrm>
            <a:off x="857827" y="1178835"/>
            <a:ext cx="7428345" cy="1392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/>
              <a:t>Un LLM fundamentalmente produce una </a:t>
            </a:r>
            <a:r>
              <a:rPr lang="es-ES" sz="2000" i="1" dirty="0"/>
              <a:t>continuación razonable</a:t>
            </a:r>
            <a:r>
              <a:rPr lang="es-ES" sz="2000" dirty="0"/>
              <a:t> del texto que tiene hasta ahora, donde por razonable nos referimos a lo que uno podría esperar que alguien escriba después de ver lo que las personas han escrito en miles de millones de páginas web.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EABDAD7-7696-0DEF-C3DE-0FAE2D9A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18" y="2741759"/>
            <a:ext cx="6568498" cy="198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21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293B-7D15-DA6B-D31C-9DADD0C6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C034EAD-284F-94C8-CE03-B2C5BFE756DA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LLMs predicen una palabra a la vez</a:t>
            </a:r>
            <a:endParaRPr lang="es-ES_tradnl" sz="3200" noProof="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F1DB874-8A6C-657C-8236-73CA4AE22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492" y="1637191"/>
            <a:ext cx="6789016" cy="256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20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¿Cuáles son las características claves de los LLMs?</a:t>
            </a:r>
            <a:endParaRPr lang="es-ES_tradnl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5038344" y="1682496"/>
            <a:ext cx="1078992" cy="1014984"/>
          </a:xfrm>
          <a:prstGeom prst="line">
            <a:avLst/>
          </a:prstGeom>
          <a:solidFill>
            <a:srgbClr val="0891B2">
              <a:alpha val="80000"/>
            </a:srgbClr>
          </a:solidFill>
          <a:ln/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3840480" cy="146304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DDFFDD-263D-88EB-6ADF-94254871A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70" y="1762277"/>
            <a:ext cx="4038212" cy="18704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16AF81B-96D0-122A-6579-D3B03CC8FAFF}"/>
              </a:ext>
            </a:extLst>
          </p:cNvPr>
          <p:cNvSpPr txBox="1"/>
          <p:nvPr/>
        </p:nvSpPr>
        <p:spPr>
          <a:xfrm>
            <a:off x="5365649" y="1798174"/>
            <a:ext cx="34125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Naturaleza probabilística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Memoria </a:t>
            </a:r>
            <a:r>
              <a:rPr lang="es-ES_tradnl" dirty="0" err="1"/>
              <a:t>stateless</a:t>
            </a: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Conocimiento estático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Diferentes tamaños, esfuerzo y razonamiento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Complacencia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Costos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CDE4D0BF-5451-45AD-62D9-984B9F4BCFED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Naturaleza Probabilística</a:t>
            </a:r>
            <a:endParaRPr lang="es-ES_tradnl" sz="2400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90E3AF-5DCE-5928-D7F6-3CB9E2B08C8A}"/>
              </a:ext>
            </a:extLst>
          </p:cNvPr>
          <p:cNvGrpSpPr/>
          <p:nvPr/>
        </p:nvGrpSpPr>
        <p:grpSpPr>
          <a:xfrm>
            <a:off x="286902" y="1562301"/>
            <a:ext cx="4038212" cy="2303745"/>
            <a:chOff x="1000134" y="1636547"/>
            <a:chExt cx="4038212" cy="23037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FAFB5E-EF8B-91D8-1FC3-D04E23FEE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134" y="1636547"/>
              <a:ext cx="4038212" cy="187040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924A7D-5694-B339-7D1F-FDFF7A6ECE3C}"/>
                </a:ext>
              </a:extLst>
            </p:cNvPr>
            <p:cNvSpPr/>
            <p:nvPr/>
          </p:nvSpPr>
          <p:spPr>
            <a:xfrm>
              <a:off x="1472184" y="2761488"/>
              <a:ext cx="2926080" cy="39319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76B0B8-FFF8-82DF-CCF0-83D21DDC64B3}"/>
                </a:ext>
              </a:extLst>
            </p:cNvPr>
            <p:cNvSpPr txBox="1"/>
            <p:nvPr/>
          </p:nvSpPr>
          <p:spPr>
            <a:xfrm>
              <a:off x="1845329" y="3570960"/>
              <a:ext cx="2347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= Instrucciones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91D0F29-B01B-36B2-F5E4-83843D805A66}"/>
              </a:ext>
            </a:extLst>
          </p:cNvPr>
          <p:cNvSpPr txBox="1"/>
          <p:nvPr/>
        </p:nvSpPr>
        <p:spPr>
          <a:xfrm>
            <a:off x="5055565" y="915970"/>
            <a:ext cx="3429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 </a:t>
            </a:r>
            <a:r>
              <a:rPr lang="en-US" dirty="0" err="1"/>
              <a:t>mismo</a:t>
            </a:r>
            <a:r>
              <a:rPr lang="en-US" dirty="0"/>
              <a:t> prompt </a:t>
            </a:r>
            <a:r>
              <a:rPr lang="en-US" dirty="0" err="1"/>
              <a:t>nos</a:t>
            </a:r>
            <a:r>
              <a:rPr lang="en-US" dirty="0"/>
              <a:t> da </a:t>
            </a:r>
            <a:r>
              <a:rPr lang="en-US" dirty="0" err="1"/>
              <a:t>siempre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E4C6CE-9596-DE52-6C10-95F9E7B26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171" y="1779279"/>
            <a:ext cx="3650189" cy="220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96F2F-1390-0B1A-06B9-CEEE30B9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CAC7960D-91C3-7149-1967-2A9DE0FFA511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Naturaleza Probabilística</a:t>
            </a:r>
            <a:endParaRPr lang="es-ES_tradnl" sz="2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C1C2C2-99BA-B7A8-5D4E-A6CB434BAEE5}"/>
              </a:ext>
            </a:extLst>
          </p:cNvPr>
          <p:cNvGrpSpPr/>
          <p:nvPr/>
        </p:nvGrpSpPr>
        <p:grpSpPr>
          <a:xfrm>
            <a:off x="1347566" y="996696"/>
            <a:ext cx="6631748" cy="3872484"/>
            <a:chOff x="1347566" y="996696"/>
            <a:chExt cx="6631748" cy="38724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D67161-6A53-00C1-C259-777EF0E73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7566" y="996696"/>
              <a:ext cx="6631748" cy="387248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5A0AC88-1C8F-C0E5-4295-C2CE289C56FB}"/>
                </a:ext>
              </a:extLst>
            </p:cNvPr>
            <p:cNvSpPr/>
            <p:nvPr/>
          </p:nvSpPr>
          <p:spPr>
            <a:xfrm>
              <a:off x="1389888" y="1435608"/>
              <a:ext cx="932688" cy="694944"/>
            </a:xfrm>
            <a:prstGeom prst="rect">
              <a:avLst/>
            </a:prstGeom>
            <a:solidFill>
              <a:srgbClr val="FB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D9D1C69-21AE-56DB-308D-CEEDFD9514D1}"/>
              </a:ext>
            </a:extLst>
          </p:cNvPr>
          <p:cNvSpPr/>
          <p:nvPr/>
        </p:nvSpPr>
        <p:spPr>
          <a:xfrm>
            <a:off x="6629400" y="1179576"/>
            <a:ext cx="1392236" cy="3463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FB4F0-5CC7-CF6E-200A-E3EF767C1819}"/>
              </a:ext>
            </a:extLst>
          </p:cNvPr>
          <p:cNvSpPr/>
          <p:nvPr/>
        </p:nvSpPr>
        <p:spPr>
          <a:xfrm>
            <a:off x="6587078" y="4522802"/>
            <a:ext cx="1392236" cy="3463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5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1512-1F68-B928-1BA6-DFACD333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017C45C-8BA2-C79C-261B-B275E949C487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Naturaleza Probabilística</a:t>
            </a:r>
            <a:endParaRPr lang="es-ES_tradnl" sz="2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763BA5-0A77-C828-D686-B31F58B3C85F}"/>
              </a:ext>
            </a:extLst>
          </p:cNvPr>
          <p:cNvGrpSpPr/>
          <p:nvPr/>
        </p:nvGrpSpPr>
        <p:grpSpPr>
          <a:xfrm>
            <a:off x="1347566" y="996696"/>
            <a:ext cx="6631748" cy="3872484"/>
            <a:chOff x="1347566" y="996696"/>
            <a:chExt cx="6631748" cy="38724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5CF4FB-C21A-3758-CA7A-E0E379CEC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7566" y="996696"/>
              <a:ext cx="6631748" cy="387248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489C08-A1E5-04E8-899D-EAB7E97B5DDD}"/>
                </a:ext>
              </a:extLst>
            </p:cNvPr>
            <p:cNvSpPr/>
            <p:nvPr/>
          </p:nvSpPr>
          <p:spPr>
            <a:xfrm>
              <a:off x="1389888" y="1435608"/>
              <a:ext cx="932688" cy="694944"/>
            </a:xfrm>
            <a:prstGeom prst="rect">
              <a:avLst/>
            </a:prstGeom>
            <a:solidFill>
              <a:srgbClr val="FB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F7F5814-691A-5B99-B884-4C424988D9EF}"/>
              </a:ext>
            </a:extLst>
          </p:cNvPr>
          <p:cNvSpPr/>
          <p:nvPr/>
        </p:nvSpPr>
        <p:spPr>
          <a:xfrm>
            <a:off x="6629400" y="1179576"/>
            <a:ext cx="1392236" cy="3463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703D3F-EB13-0E8E-7E48-3632279C781A}"/>
              </a:ext>
            </a:extLst>
          </p:cNvPr>
          <p:cNvSpPr/>
          <p:nvPr/>
        </p:nvSpPr>
        <p:spPr>
          <a:xfrm>
            <a:off x="6587078" y="4522802"/>
            <a:ext cx="1392236" cy="3463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E710FB-907D-AC51-71A4-51A758F9E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05" y="1435608"/>
            <a:ext cx="5468113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Temperature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Temperatura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hace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Controla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tan 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arriesgado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 es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elegir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siguiente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palabra.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Valores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bajos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(0.1 - 0.4):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vuelve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determinista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conservador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Elegirá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siempre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opción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con mayor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probabilidad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Valores altos (0.7 - 1.2+):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Aplana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 las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probabilidades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haciendo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palabras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comunes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oportunidad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ser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elegidas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Esto genera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creativas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variadas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poéticas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aumenta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riesgo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alucinaciones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450771-A1BD-DB70-1123-DD23D0BC930B}"/>
              </a:ext>
            </a:extLst>
          </p:cNvPr>
          <p:cNvCxnSpPr/>
          <p:nvPr/>
        </p:nvCxnSpPr>
        <p:spPr>
          <a:xfrm flipV="1">
            <a:off x="3715861" y="1179576"/>
            <a:ext cx="2913539" cy="25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B9518B-AA5D-9910-416C-9832B28EE153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6449918" y="1525954"/>
            <a:ext cx="1571718" cy="1310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63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51A1-425F-69BC-D106-50619234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8C370E7D-3324-63D4-B494-F8AF13D57EF8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Naturaleza Probabilística</a:t>
            </a:r>
            <a:endParaRPr lang="es-ES_tradnl" sz="2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7DEB62-2945-208C-5FC6-7D307005776D}"/>
              </a:ext>
            </a:extLst>
          </p:cNvPr>
          <p:cNvGrpSpPr/>
          <p:nvPr/>
        </p:nvGrpSpPr>
        <p:grpSpPr>
          <a:xfrm>
            <a:off x="1347566" y="996696"/>
            <a:ext cx="6631748" cy="3872484"/>
            <a:chOff x="1347566" y="996696"/>
            <a:chExt cx="6631748" cy="38724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472698-5F14-351E-3460-1966F3B79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7566" y="996696"/>
              <a:ext cx="6631748" cy="387248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C5634F-7D84-F7E6-A2E3-C219FC86E170}"/>
                </a:ext>
              </a:extLst>
            </p:cNvPr>
            <p:cNvSpPr/>
            <p:nvPr/>
          </p:nvSpPr>
          <p:spPr>
            <a:xfrm>
              <a:off x="1389888" y="1435608"/>
              <a:ext cx="932688" cy="694944"/>
            </a:xfrm>
            <a:prstGeom prst="rect">
              <a:avLst/>
            </a:prstGeom>
            <a:solidFill>
              <a:srgbClr val="FB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6A3E82E-C32B-FD71-583D-53AB960A438E}"/>
              </a:ext>
            </a:extLst>
          </p:cNvPr>
          <p:cNvSpPr/>
          <p:nvPr/>
        </p:nvSpPr>
        <p:spPr>
          <a:xfrm>
            <a:off x="6629400" y="1179576"/>
            <a:ext cx="1392236" cy="3463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76DC9-24D9-1791-5442-4737F0EF2A44}"/>
              </a:ext>
            </a:extLst>
          </p:cNvPr>
          <p:cNvSpPr/>
          <p:nvPr/>
        </p:nvSpPr>
        <p:spPr>
          <a:xfrm>
            <a:off x="6587078" y="4522802"/>
            <a:ext cx="1392236" cy="3463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CE42E7-C8EB-091A-18D1-93AA21CCC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05" y="1435608"/>
            <a:ext cx="5468113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CA" sz="1600" b="1" dirty="0"/>
              <a:t>Top-P (Nucleus Sampling):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 err="1"/>
              <a:t>Qué</a:t>
            </a:r>
            <a:r>
              <a:rPr lang="en-CA" sz="1600" b="1" dirty="0"/>
              <a:t> </a:t>
            </a:r>
            <a:r>
              <a:rPr lang="en-CA" sz="1600" b="1" dirty="0" err="1"/>
              <a:t>hace</a:t>
            </a:r>
            <a:r>
              <a:rPr lang="en-CA" sz="1600" b="1" dirty="0"/>
              <a:t>:</a:t>
            </a:r>
            <a:r>
              <a:rPr lang="en-CA" sz="1600" dirty="0"/>
              <a:t> En </a:t>
            </a:r>
            <a:r>
              <a:rPr lang="en-CA" sz="1600" dirty="0" err="1"/>
              <a:t>lugar</a:t>
            </a:r>
            <a:r>
              <a:rPr lang="en-CA" sz="1600" dirty="0"/>
              <a:t> de </a:t>
            </a:r>
            <a:r>
              <a:rPr lang="en-CA" sz="1600" dirty="0" err="1"/>
              <a:t>mirar</a:t>
            </a:r>
            <a:r>
              <a:rPr lang="en-CA" sz="1600" dirty="0"/>
              <a:t> </a:t>
            </a:r>
            <a:r>
              <a:rPr lang="en-CA" sz="1600" dirty="0" err="1"/>
              <a:t>todas</a:t>
            </a:r>
            <a:r>
              <a:rPr lang="en-CA" sz="1600" dirty="0"/>
              <a:t> las palabras </a:t>
            </a:r>
            <a:r>
              <a:rPr lang="en-CA" sz="1600" dirty="0" err="1"/>
              <a:t>posibles</a:t>
            </a:r>
            <a:r>
              <a:rPr lang="en-CA" sz="1600" dirty="0"/>
              <a:t>, </a:t>
            </a:r>
            <a:r>
              <a:rPr lang="en-CA" sz="1600" dirty="0" err="1"/>
              <a:t>el</a:t>
            </a:r>
            <a:r>
              <a:rPr lang="en-CA" sz="1600" dirty="0"/>
              <a:t> </a:t>
            </a:r>
            <a:r>
              <a:rPr lang="en-CA" sz="1600" dirty="0" err="1"/>
              <a:t>modelo</a:t>
            </a:r>
            <a:r>
              <a:rPr lang="en-CA" sz="1600" dirty="0"/>
              <a:t> solo </a:t>
            </a:r>
            <a:r>
              <a:rPr lang="en-CA" sz="1600" dirty="0" err="1"/>
              <a:t>considera</a:t>
            </a:r>
            <a:r>
              <a:rPr lang="en-CA" sz="1600" dirty="0"/>
              <a:t> un </a:t>
            </a:r>
            <a:r>
              <a:rPr lang="en-CA" sz="1600" dirty="0" err="1"/>
              <a:t>subconjunto</a:t>
            </a:r>
            <a:r>
              <a:rPr lang="en-CA" sz="1600" dirty="0"/>
              <a:t> </a:t>
            </a:r>
            <a:r>
              <a:rPr lang="en-CA" sz="1600" dirty="0" err="1"/>
              <a:t>cuya</a:t>
            </a:r>
            <a:r>
              <a:rPr lang="en-CA" sz="1600" dirty="0"/>
              <a:t> </a:t>
            </a:r>
            <a:r>
              <a:rPr lang="en-CA" sz="1600" dirty="0" err="1"/>
              <a:t>probabilidad</a:t>
            </a:r>
            <a:r>
              <a:rPr lang="en-CA" sz="1600" dirty="0"/>
              <a:t> </a:t>
            </a:r>
            <a:r>
              <a:rPr lang="en-CA" sz="1600" dirty="0" err="1"/>
              <a:t>sumada</a:t>
            </a:r>
            <a:r>
              <a:rPr lang="en-CA" sz="1600" dirty="0"/>
              <a:t> </a:t>
            </a:r>
            <a:r>
              <a:rPr lang="en-CA" sz="1600" dirty="0" err="1"/>
              <a:t>alcance</a:t>
            </a:r>
            <a:r>
              <a:rPr lang="en-CA" sz="1600" dirty="0"/>
              <a:t> </a:t>
            </a:r>
            <a:r>
              <a:rPr lang="en-CA" sz="1600" dirty="0" err="1"/>
              <a:t>el</a:t>
            </a:r>
            <a:r>
              <a:rPr lang="en-CA" sz="1600" dirty="0"/>
              <a:t> valor </a:t>
            </a:r>
            <a:r>
              <a:rPr lang="en-CA" sz="1600" b="1" dirty="0"/>
              <a:t>P</a:t>
            </a:r>
            <a:r>
              <a:rPr lang="en-CA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 err="1"/>
              <a:t>Ejemplo</a:t>
            </a:r>
            <a:r>
              <a:rPr lang="en-CA" sz="1600" b="1" dirty="0"/>
              <a:t>:</a:t>
            </a:r>
            <a:r>
              <a:rPr lang="en-CA" sz="1600" dirty="0"/>
              <a:t> Si </a:t>
            </a:r>
            <a:r>
              <a:rPr lang="en-CA" sz="1600" dirty="0" err="1"/>
              <a:t>configuras</a:t>
            </a:r>
            <a:r>
              <a:rPr lang="en-CA" sz="1600" dirty="0"/>
              <a:t> Top-P = 0.1, </a:t>
            </a:r>
            <a:r>
              <a:rPr lang="en-CA" sz="1600" dirty="0" err="1"/>
              <a:t>el</a:t>
            </a:r>
            <a:r>
              <a:rPr lang="en-CA" sz="1600" dirty="0"/>
              <a:t> </a:t>
            </a:r>
            <a:r>
              <a:rPr lang="en-CA" sz="1600" dirty="0" err="1"/>
              <a:t>modelo</a:t>
            </a:r>
            <a:r>
              <a:rPr lang="en-CA" sz="1600" dirty="0"/>
              <a:t> solo </a:t>
            </a:r>
            <a:r>
              <a:rPr lang="en-CA" sz="1600" dirty="0" err="1"/>
              <a:t>elegirá</a:t>
            </a:r>
            <a:r>
              <a:rPr lang="en-CA" sz="1600" dirty="0"/>
              <a:t> entre las palabras </a:t>
            </a:r>
            <a:r>
              <a:rPr lang="en-CA" sz="1600" dirty="0" err="1"/>
              <a:t>que</a:t>
            </a:r>
            <a:r>
              <a:rPr lang="en-CA" sz="1600" dirty="0"/>
              <a:t> </a:t>
            </a:r>
            <a:r>
              <a:rPr lang="en-CA" sz="1600" dirty="0" err="1"/>
              <a:t>forman</a:t>
            </a:r>
            <a:r>
              <a:rPr lang="en-CA" sz="1600" dirty="0"/>
              <a:t> </a:t>
            </a:r>
            <a:r>
              <a:rPr lang="en-CA" sz="1600" dirty="0" err="1"/>
              <a:t>el</a:t>
            </a:r>
            <a:r>
              <a:rPr lang="en-CA" sz="1600" dirty="0"/>
              <a:t> 10% de la masa de </a:t>
            </a:r>
            <a:r>
              <a:rPr lang="en-CA" sz="1600" dirty="0" err="1"/>
              <a:t>probabilidad</a:t>
            </a:r>
            <a:r>
              <a:rPr lang="en-CA" sz="1600" dirty="0"/>
              <a:t> </a:t>
            </a:r>
            <a:r>
              <a:rPr lang="en-CA" sz="1600" dirty="0" err="1"/>
              <a:t>más</a:t>
            </a:r>
            <a:r>
              <a:rPr lang="en-CA" sz="1600" dirty="0"/>
              <a:t> </a:t>
            </a:r>
            <a:r>
              <a:rPr lang="en-CA" sz="1600" dirty="0" err="1"/>
              <a:t>alta.</a:t>
            </a:r>
            <a:r>
              <a:rPr lang="en-CA" sz="1600" dirty="0"/>
              <a:t> Esto </a:t>
            </a:r>
            <a:r>
              <a:rPr lang="en-CA" sz="1600" dirty="0" err="1"/>
              <a:t>elimina</a:t>
            </a:r>
            <a:r>
              <a:rPr lang="en-CA" sz="1600" dirty="0"/>
              <a:t> la "cola </a:t>
            </a:r>
            <a:r>
              <a:rPr lang="en-CA" sz="1600" dirty="0" err="1"/>
              <a:t>larga</a:t>
            </a:r>
            <a:r>
              <a:rPr lang="en-CA" sz="1600" dirty="0"/>
              <a:t>" de palabras </a:t>
            </a:r>
            <a:r>
              <a:rPr lang="en-CA" sz="1600" dirty="0" err="1"/>
              <a:t>irrelevantes</a:t>
            </a:r>
            <a:r>
              <a:rPr lang="en-CA" sz="1600" dirty="0"/>
              <a:t> o </a:t>
            </a:r>
            <a:r>
              <a:rPr lang="en-CA" sz="1600" dirty="0" err="1"/>
              <a:t>absurdas</a:t>
            </a:r>
            <a:r>
              <a:rPr lang="en-CA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/>
              <a:t>Uso:</a:t>
            </a:r>
            <a:r>
              <a:rPr lang="en-CA" sz="1600" dirty="0"/>
              <a:t> Ayuda a </a:t>
            </a:r>
            <a:r>
              <a:rPr lang="en-CA" sz="1600" dirty="0" err="1"/>
              <a:t>mantener</a:t>
            </a:r>
            <a:r>
              <a:rPr lang="en-CA" sz="1600" dirty="0"/>
              <a:t> la </a:t>
            </a:r>
            <a:r>
              <a:rPr lang="en-CA" sz="1600" dirty="0" err="1"/>
              <a:t>coherencia</a:t>
            </a:r>
            <a:r>
              <a:rPr lang="en-CA" sz="1600" dirty="0"/>
              <a:t> </a:t>
            </a:r>
            <a:r>
              <a:rPr lang="en-CA" sz="1600" dirty="0" err="1"/>
              <a:t>incluso</a:t>
            </a:r>
            <a:r>
              <a:rPr lang="en-CA" sz="1600" dirty="0"/>
              <a:t> </a:t>
            </a:r>
            <a:r>
              <a:rPr lang="en-CA" sz="1600" dirty="0" err="1"/>
              <a:t>cuando</a:t>
            </a:r>
            <a:r>
              <a:rPr lang="en-CA" sz="1600" dirty="0"/>
              <a:t> la </a:t>
            </a:r>
            <a:r>
              <a:rPr lang="en-CA" sz="1600" dirty="0" err="1"/>
              <a:t>temperatura</a:t>
            </a:r>
            <a:r>
              <a:rPr lang="en-CA" sz="1600" dirty="0"/>
              <a:t> es </a:t>
            </a:r>
            <a:r>
              <a:rPr lang="en-CA" sz="1600" dirty="0" err="1"/>
              <a:t>alta</a:t>
            </a:r>
            <a:r>
              <a:rPr lang="en-CA" sz="1600" dirty="0"/>
              <a:t>, </a:t>
            </a:r>
            <a:r>
              <a:rPr lang="en-CA" sz="1600" dirty="0" err="1"/>
              <a:t>filtrando</a:t>
            </a:r>
            <a:r>
              <a:rPr lang="en-CA" sz="1600" dirty="0"/>
              <a:t> </a:t>
            </a:r>
            <a:r>
              <a:rPr lang="en-CA" sz="1600" dirty="0" err="1"/>
              <a:t>opciones</a:t>
            </a:r>
            <a:r>
              <a:rPr lang="en-CA" sz="1600" dirty="0"/>
              <a:t> </a:t>
            </a:r>
            <a:r>
              <a:rPr lang="en-CA" sz="1600" dirty="0" err="1"/>
              <a:t>que</a:t>
            </a:r>
            <a:r>
              <a:rPr lang="en-CA" sz="1600" dirty="0"/>
              <a:t> no </a:t>
            </a:r>
            <a:r>
              <a:rPr lang="en-CA" sz="1600" dirty="0" err="1"/>
              <a:t>tienen</a:t>
            </a:r>
            <a:r>
              <a:rPr lang="en-CA" sz="1600" dirty="0"/>
              <a:t> </a:t>
            </a:r>
            <a:r>
              <a:rPr lang="en-CA" sz="1600" dirty="0" err="1"/>
              <a:t>sentido</a:t>
            </a:r>
            <a:r>
              <a:rPr lang="en-CA" sz="1600" dirty="0"/>
              <a:t> </a:t>
            </a:r>
            <a:r>
              <a:rPr lang="en-CA" sz="1600" dirty="0" err="1"/>
              <a:t>en</a:t>
            </a:r>
            <a:r>
              <a:rPr lang="en-CA" sz="1600" dirty="0"/>
              <a:t> </a:t>
            </a:r>
            <a:r>
              <a:rPr lang="en-CA" sz="1600" dirty="0" err="1"/>
              <a:t>el</a:t>
            </a:r>
            <a:r>
              <a:rPr lang="en-CA" sz="1600" dirty="0"/>
              <a:t> </a:t>
            </a:r>
            <a:r>
              <a:rPr lang="en-CA" sz="1600" dirty="0" err="1"/>
              <a:t>contexto</a:t>
            </a:r>
            <a:r>
              <a:rPr lang="en-CA" sz="1600" dirty="0"/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57C240-110C-CA83-0436-B59BA9A1D31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449918" y="2835992"/>
            <a:ext cx="1529396" cy="1686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3DF266-933E-F9C9-0857-F16135413FA2}"/>
              </a:ext>
            </a:extLst>
          </p:cNvPr>
          <p:cNvCxnSpPr>
            <a:cxnSpLocks/>
          </p:cNvCxnSpPr>
          <p:nvPr/>
        </p:nvCxnSpPr>
        <p:spPr>
          <a:xfrm>
            <a:off x="6449918" y="4236375"/>
            <a:ext cx="179482" cy="286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5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3579-A5BF-4A07-A769-507CFA52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1703289C-3F7B-61E1-32B1-3B68E273BC59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Naturaleza Probabilística</a:t>
            </a:r>
            <a:endParaRPr lang="es-ES_tradnl" sz="24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92443-6BFC-C8A9-2B2F-801129B79DC7}"/>
              </a:ext>
            </a:extLst>
          </p:cNvPr>
          <p:cNvGrpSpPr/>
          <p:nvPr/>
        </p:nvGrpSpPr>
        <p:grpSpPr>
          <a:xfrm>
            <a:off x="1347566" y="996696"/>
            <a:ext cx="6631748" cy="3872484"/>
            <a:chOff x="1347566" y="996696"/>
            <a:chExt cx="6631748" cy="38724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C91CE7D-89B7-EFE2-D740-06A0FD9E0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7566" y="996696"/>
              <a:ext cx="6631748" cy="387248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1091EC-C1C9-B23B-2D05-316EC54586BF}"/>
                </a:ext>
              </a:extLst>
            </p:cNvPr>
            <p:cNvSpPr/>
            <p:nvPr/>
          </p:nvSpPr>
          <p:spPr>
            <a:xfrm>
              <a:off x="1389888" y="1435608"/>
              <a:ext cx="932688" cy="694944"/>
            </a:xfrm>
            <a:prstGeom prst="rect">
              <a:avLst/>
            </a:prstGeom>
            <a:solidFill>
              <a:srgbClr val="FB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6A23BEA-895D-5486-DA23-E11A04D1F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383" y="1783080"/>
            <a:ext cx="5468113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CA" sz="1600" b="1" dirty="0"/>
              <a:t>Top-K: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 err="1"/>
              <a:t>Qué</a:t>
            </a:r>
            <a:r>
              <a:rPr lang="en-CA" sz="1600" b="1" dirty="0"/>
              <a:t> </a:t>
            </a:r>
            <a:r>
              <a:rPr lang="en-CA" sz="1600" b="1" dirty="0" err="1"/>
              <a:t>hace</a:t>
            </a:r>
            <a:r>
              <a:rPr lang="en-CA" sz="1600" b="1" dirty="0"/>
              <a:t>:</a:t>
            </a:r>
            <a:r>
              <a:rPr lang="en-CA" sz="1600" dirty="0"/>
              <a:t> Es </a:t>
            </a:r>
            <a:r>
              <a:rPr lang="en-CA" sz="1600" dirty="0" err="1"/>
              <a:t>más</a:t>
            </a:r>
            <a:r>
              <a:rPr lang="en-CA" sz="1600" dirty="0"/>
              <a:t> </a:t>
            </a:r>
            <a:r>
              <a:rPr lang="en-CA" sz="1600" dirty="0" err="1"/>
              <a:t>sencillo</a:t>
            </a:r>
            <a:r>
              <a:rPr lang="en-CA" sz="1600" dirty="0"/>
              <a:t> </a:t>
            </a:r>
            <a:r>
              <a:rPr lang="en-CA" sz="1600" dirty="0" err="1"/>
              <a:t>que</a:t>
            </a:r>
            <a:r>
              <a:rPr lang="en-CA" sz="1600" dirty="0"/>
              <a:t> </a:t>
            </a:r>
            <a:r>
              <a:rPr lang="en-CA" sz="1600" dirty="0" err="1"/>
              <a:t>el</a:t>
            </a:r>
            <a:r>
              <a:rPr lang="en-CA" sz="1600" dirty="0"/>
              <a:t> Top-P; </a:t>
            </a:r>
            <a:r>
              <a:rPr lang="en-CA" sz="1600" dirty="0" err="1"/>
              <a:t>simplemente</a:t>
            </a:r>
            <a:r>
              <a:rPr lang="en-CA" sz="1600" dirty="0"/>
              <a:t> </a:t>
            </a:r>
            <a:r>
              <a:rPr lang="en-CA" sz="1600" dirty="0" err="1"/>
              <a:t>limita</a:t>
            </a:r>
            <a:r>
              <a:rPr lang="en-CA" sz="1600" dirty="0"/>
              <a:t> </a:t>
            </a:r>
            <a:r>
              <a:rPr lang="en-CA" sz="1600" dirty="0" err="1"/>
              <a:t>el</a:t>
            </a:r>
            <a:r>
              <a:rPr lang="en-CA" sz="1600" dirty="0"/>
              <a:t> </a:t>
            </a:r>
            <a:r>
              <a:rPr lang="en-CA" sz="1600" dirty="0" err="1"/>
              <a:t>vocabulario</a:t>
            </a:r>
            <a:r>
              <a:rPr lang="en-CA" sz="1600" dirty="0"/>
              <a:t> a las </a:t>
            </a:r>
            <a:r>
              <a:rPr lang="en-CA" sz="1600" b="1" dirty="0"/>
              <a:t>K</a:t>
            </a:r>
            <a:r>
              <a:rPr lang="en-CA" sz="1600" dirty="0"/>
              <a:t> palabras </a:t>
            </a:r>
            <a:r>
              <a:rPr lang="en-CA" sz="1600" dirty="0" err="1"/>
              <a:t>más</a:t>
            </a:r>
            <a:r>
              <a:rPr lang="en-CA" sz="1600" dirty="0"/>
              <a:t> </a:t>
            </a:r>
            <a:r>
              <a:rPr lang="en-CA" sz="1600" dirty="0" err="1"/>
              <a:t>probables</a:t>
            </a:r>
            <a:r>
              <a:rPr lang="en-CA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 err="1"/>
              <a:t>Efecto</a:t>
            </a:r>
            <a:r>
              <a:rPr lang="en-CA" sz="1600" b="1" dirty="0"/>
              <a:t>:</a:t>
            </a:r>
            <a:r>
              <a:rPr lang="en-CA" sz="1600" dirty="0"/>
              <a:t> Si Top-K = 50, </a:t>
            </a:r>
            <a:r>
              <a:rPr lang="en-CA" sz="1600" dirty="0" err="1"/>
              <a:t>el</a:t>
            </a:r>
            <a:r>
              <a:rPr lang="en-CA" sz="1600" dirty="0"/>
              <a:t> </a:t>
            </a:r>
            <a:r>
              <a:rPr lang="en-CA" sz="1600" dirty="0" err="1"/>
              <a:t>modelo</a:t>
            </a:r>
            <a:r>
              <a:rPr lang="en-CA" sz="1600" dirty="0"/>
              <a:t> </a:t>
            </a:r>
            <a:r>
              <a:rPr lang="en-CA" sz="1600" dirty="0" err="1"/>
              <a:t>ignorará</a:t>
            </a:r>
            <a:r>
              <a:rPr lang="en-CA" sz="1600" dirty="0"/>
              <a:t> </a:t>
            </a:r>
            <a:r>
              <a:rPr lang="en-CA" sz="1600" dirty="0" err="1"/>
              <a:t>cualquier</a:t>
            </a:r>
            <a:r>
              <a:rPr lang="en-CA" sz="1600" dirty="0"/>
              <a:t> palabra </a:t>
            </a:r>
            <a:r>
              <a:rPr lang="en-CA" sz="1600" dirty="0" err="1"/>
              <a:t>que</a:t>
            </a:r>
            <a:r>
              <a:rPr lang="en-CA" sz="1600" dirty="0"/>
              <a:t> no </a:t>
            </a:r>
            <a:r>
              <a:rPr lang="en-CA" sz="1600" dirty="0" err="1"/>
              <a:t>esté</a:t>
            </a:r>
            <a:r>
              <a:rPr lang="en-CA" sz="1600" dirty="0"/>
              <a:t> </a:t>
            </a:r>
            <a:r>
              <a:rPr lang="en-CA" sz="1600" dirty="0" err="1"/>
              <a:t>en</a:t>
            </a:r>
            <a:r>
              <a:rPr lang="en-CA" sz="1600" dirty="0"/>
              <a:t> </a:t>
            </a:r>
            <a:r>
              <a:rPr lang="en-CA" sz="1600" dirty="0" err="1"/>
              <a:t>el</a:t>
            </a:r>
            <a:r>
              <a:rPr lang="en-CA" sz="1600" dirty="0"/>
              <a:t> ranking de las 50 </a:t>
            </a:r>
            <a:r>
              <a:rPr lang="en-CA" sz="1600" dirty="0" err="1"/>
              <a:t>mejores</a:t>
            </a:r>
            <a:r>
              <a:rPr lang="en-CA" sz="1600" dirty="0"/>
              <a:t>, sin </a:t>
            </a:r>
            <a:r>
              <a:rPr lang="en-CA" sz="1600" dirty="0" err="1"/>
              <a:t>importar</a:t>
            </a:r>
            <a:r>
              <a:rPr lang="en-CA" sz="1600" dirty="0"/>
              <a:t> </a:t>
            </a:r>
            <a:r>
              <a:rPr lang="en-CA" sz="1600" dirty="0" err="1"/>
              <a:t>qué</a:t>
            </a:r>
            <a:r>
              <a:rPr lang="en-CA" sz="1600" dirty="0"/>
              <a:t> tan </a:t>
            </a:r>
            <a:r>
              <a:rPr lang="en-CA" sz="1600" dirty="0" err="1"/>
              <a:t>cerca</a:t>
            </a:r>
            <a:r>
              <a:rPr lang="en-CA" sz="1600" dirty="0"/>
              <a:t> </a:t>
            </a:r>
            <a:r>
              <a:rPr lang="en-CA" sz="1600" dirty="0" err="1"/>
              <a:t>esté</a:t>
            </a:r>
            <a:r>
              <a:rPr lang="en-CA" sz="1600" dirty="0"/>
              <a:t> la </a:t>
            </a:r>
            <a:r>
              <a:rPr lang="en-CA" sz="1600" dirty="0" err="1"/>
              <a:t>probabilidad</a:t>
            </a:r>
            <a:r>
              <a:rPr lang="en-CA" sz="1600" dirty="0"/>
              <a:t> de la </a:t>
            </a:r>
            <a:r>
              <a:rPr lang="en-CA" sz="1600" dirty="0" err="1"/>
              <a:t>número</a:t>
            </a:r>
            <a:r>
              <a:rPr lang="en-CA" sz="1600" dirty="0"/>
              <a:t> 51.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1338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C33F-D7E7-5D1C-BDFC-365C104D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545465F-74CE-C4AD-7C95-E841A997441A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2F05E-8D4D-E778-8A2C-51E3543B4FDC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0F5D79-1AB8-F3A1-7B0A-0974C58076A3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FF22F-787C-418F-D339-6B3121AC940D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F043D-DD76-491A-060E-AB1BA2D14BA2}"/>
              </a:ext>
            </a:extLst>
          </p:cNvPr>
          <p:cNvSpPr txBox="1"/>
          <p:nvPr/>
        </p:nvSpPr>
        <p:spPr>
          <a:xfrm>
            <a:off x="874773" y="2487775"/>
            <a:ext cx="230428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Hola, </a:t>
            </a:r>
            <a:r>
              <a:rPr lang="en-CA" dirty="0" err="1"/>
              <a:t>tengo</a:t>
            </a:r>
            <a:r>
              <a:rPr lang="en-CA" dirty="0"/>
              <a:t> </a:t>
            </a:r>
            <a:r>
              <a:rPr lang="en-CA" dirty="0" err="1"/>
              <a:t>tomate</a:t>
            </a:r>
            <a:r>
              <a:rPr lang="en-CA" dirty="0"/>
              <a:t> y pasta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B9325E-C2A8-5922-1B1B-D0C450DCC3E4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58439-8B0B-6792-4FDB-6FC056677EAA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413980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21F6-FA08-AA89-630A-B932C4EB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0BD7D7E-3DB2-4BA3-78C8-80AE5569F8E2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80B7D-EBFC-C567-C76B-4BD7CFEF6815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0EF6E-37A8-A17F-D9C3-B10095A20577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36AD3D-CA18-BC0C-8568-DCDB3D858BA9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71883B-332B-ADB5-8393-069261A2C441}"/>
              </a:ext>
            </a:extLst>
          </p:cNvPr>
          <p:cNvSpPr txBox="1"/>
          <p:nvPr/>
        </p:nvSpPr>
        <p:spPr>
          <a:xfrm>
            <a:off x="3566159" y="2036219"/>
            <a:ext cx="230428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Hola, </a:t>
            </a:r>
            <a:r>
              <a:rPr lang="en-CA" sz="1400" dirty="0" err="1"/>
              <a:t>tengo</a:t>
            </a:r>
            <a:r>
              <a:rPr lang="en-CA" sz="1400" dirty="0"/>
              <a:t> </a:t>
            </a:r>
            <a:r>
              <a:rPr lang="en-CA" sz="1400" dirty="0" err="1"/>
              <a:t>tomate</a:t>
            </a:r>
            <a:r>
              <a:rPr lang="en-CA" sz="1400" dirty="0"/>
              <a:t> y pasta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D117C-9654-7474-131A-C0B8FDCFF3F2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35B37-DCCA-8366-F38D-D92669E29E82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4238845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A608-B7D1-7AAF-1BD4-59BD58CE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71751C3-ADDF-862B-1DF8-66579055F246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52DFA-BF1B-DDDB-56EA-0846859614C0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84C4C3-F689-B537-EA51-37DE36B88322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9AE70-6863-5DCC-A902-4AE11B591128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0A61E9-FB56-353A-233B-13673481D8A7}"/>
              </a:ext>
            </a:extLst>
          </p:cNvPr>
          <p:cNvSpPr txBox="1"/>
          <p:nvPr/>
        </p:nvSpPr>
        <p:spPr>
          <a:xfrm>
            <a:off x="3566159" y="2036219"/>
            <a:ext cx="230428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Hola, </a:t>
            </a:r>
            <a:r>
              <a:rPr lang="en-CA" sz="1400" dirty="0" err="1"/>
              <a:t>tengo</a:t>
            </a:r>
            <a:r>
              <a:rPr lang="en-CA" sz="1400" dirty="0"/>
              <a:t> </a:t>
            </a:r>
            <a:r>
              <a:rPr lang="en-CA" sz="1400" dirty="0" err="1"/>
              <a:t>tomate</a:t>
            </a:r>
            <a:r>
              <a:rPr lang="en-CA" sz="1400" dirty="0"/>
              <a:t> y pasta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8BE83B-19F0-73C4-820A-1951C8959ED2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08A872-5D40-B459-202A-EC41E098D773}"/>
              </a:ext>
            </a:extLst>
          </p:cNvPr>
          <p:cNvSpPr txBox="1"/>
          <p:nvPr/>
        </p:nvSpPr>
        <p:spPr>
          <a:xfrm>
            <a:off x="6342888" y="2456843"/>
            <a:ext cx="268224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¡Genial! </a:t>
            </a:r>
            <a:r>
              <a:rPr lang="en-CA" dirty="0" err="1"/>
              <a:t>Puedes</a:t>
            </a:r>
            <a:r>
              <a:rPr lang="en-CA" dirty="0"/>
              <a:t> </a:t>
            </a:r>
            <a:r>
              <a:rPr lang="en-CA" dirty="0" err="1"/>
              <a:t>hacer</a:t>
            </a:r>
            <a:r>
              <a:rPr lang="en-CA" dirty="0"/>
              <a:t> </a:t>
            </a:r>
            <a:r>
              <a:rPr lang="en-CA" dirty="0" err="1"/>
              <a:t>una</a:t>
            </a:r>
            <a:r>
              <a:rPr lang="en-CA" dirty="0"/>
              <a:t> pasta pomodoro </a:t>
            </a:r>
            <a:r>
              <a:rPr lang="en-CA" dirty="0" err="1"/>
              <a:t>básica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87693-0E12-901F-42CD-B841E3F5FAE4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2911737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015F-1EDA-EB5E-E251-DBD49FAA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2188B8FB-6785-5CC9-B443-8721F6500987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B8C26-EA17-C6A9-D366-9A001144B200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C3D21-4885-F34A-829D-3DFF23945A3C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F6FC6B-9178-4EB7-3705-9C5D107C0D60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E40C1-8C39-8DDD-5E3F-4DC1705F5BDC}"/>
              </a:ext>
            </a:extLst>
          </p:cNvPr>
          <p:cNvSpPr txBox="1"/>
          <p:nvPr/>
        </p:nvSpPr>
        <p:spPr>
          <a:xfrm>
            <a:off x="3566159" y="2036219"/>
            <a:ext cx="230428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Hola, </a:t>
            </a:r>
            <a:r>
              <a:rPr lang="en-CA" sz="1400" dirty="0" err="1"/>
              <a:t>tengo</a:t>
            </a:r>
            <a:r>
              <a:rPr lang="en-CA" sz="1400" dirty="0"/>
              <a:t> </a:t>
            </a:r>
            <a:r>
              <a:rPr lang="en-CA" sz="1400" dirty="0" err="1"/>
              <a:t>tomate</a:t>
            </a:r>
            <a:r>
              <a:rPr lang="en-CA" sz="1400" dirty="0"/>
              <a:t> y pasta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A3C0C9-22AE-7999-D908-7507B92A01E5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67D72-5A45-CFC5-3EDD-9F61241D719C}"/>
              </a:ext>
            </a:extLst>
          </p:cNvPr>
          <p:cNvSpPr txBox="1"/>
          <p:nvPr/>
        </p:nvSpPr>
        <p:spPr>
          <a:xfrm>
            <a:off x="3566159" y="2397181"/>
            <a:ext cx="230428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¡Genial! </a:t>
            </a:r>
            <a:r>
              <a:rPr lang="en-CA" sz="1400" dirty="0" err="1"/>
              <a:t>Puedes</a:t>
            </a:r>
            <a:r>
              <a:rPr lang="en-CA" sz="1400" dirty="0"/>
              <a:t> </a:t>
            </a:r>
            <a:r>
              <a:rPr lang="en-CA" sz="1400" dirty="0" err="1"/>
              <a:t>hacer</a:t>
            </a:r>
            <a:r>
              <a:rPr lang="en-CA" sz="1400" dirty="0"/>
              <a:t> </a:t>
            </a:r>
            <a:r>
              <a:rPr lang="en-CA" sz="1400" dirty="0" err="1"/>
              <a:t>una</a:t>
            </a:r>
            <a:r>
              <a:rPr lang="en-CA" sz="1400" dirty="0"/>
              <a:t> pasta pomodoro </a:t>
            </a:r>
            <a:r>
              <a:rPr lang="en-CA" sz="1400" dirty="0" err="1"/>
              <a:t>básica</a:t>
            </a:r>
            <a:r>
              <a:rPr lang="en-CA" sz="1400" dirty="0"/>
              <a:t>.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0CFF8-D57F-1AAC-AF79-C10904848651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3239557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C89E-C10E-DB06-7D03-61288EAB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56A8D497-9680-3E87-5131-1F99F7B93746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91CB5-F3C9-EA99-0C3D-D495F59D73F1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2F7AAD-FCEB-AF8B-5454-3367749CCA30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458ABD-41A6-4BAF-F0DC-999F306ECEE9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19327-8264-DE84-6791-7029FCC47313}"/>
              </a:ext>
            </a:extLst>
          </p:cNvPr>
          <p:cNvSpPr txBox="1"/>
          <p:nvPr/>
        </p:nvSpPr>
        <p:spPr>
          <a:xfrm>
            <a:off x="3566159" y="2036219"/>
            <a:ext cx="230428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Hola, </a:t>
            </a:r>
            <a:r>
              <a:rPr lang="en-CA" sz="1400" dirty="0" err="1"/>
              <a:t>tengo</a:t>
            </a:r>
            <a:r>
              <a:rPr lang="en-CA" sz="1400" dirty="0"/>
              <a:t> </a:t>
            </a:r>
            <a:r>
              <a:rPr lang="en-CA" sz="1400" dirty="0" err="1"/>
              <a:t>tomate</a:t>
            </a:r>
            <a:r>
              <a:rPr lang="en-CA" sz="1400" dirty="0"/>
              <a:t> y pasta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436EFD-FF54-46CF-293D-D4DE6CFE3A58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CB7BC0-6E17-6192-E895-6543DD6EDDEB}"/>
              </a:ext>
            </a:extLst>
          </p:cNvPr>
          <p:cNvSpPr txBox="1"/>
          <p:nvPr/>
        </p:nvSpPr>
        <p:spPr>
          <a:xfrm>
            <a:off x="3566159" y="2397181"/>
            <a:ext cx="230428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¡Genial! </a:t>
            </a:r>
            <a:r>
              <a:rPr lang="en-CA" sz="1400" dirty="0" err="1"/>
              <a:t>Puedes</a:t>
            </a:r>
            <a:r>
              <a:rPr lang="en-CA" sz="1400" dirty="0"/>
              <a:t> </a:t>
            </a:r>
            <a:r>
              <a:rPr lang="en-CA" sz="1400" dirty="0" err="1"/>
              <a:t>hacer</a:t>
            </a:r>
            <a:r>
              <a:rPr lang="en-CA" sz="1400" dirty="0"/>
              <a:t> </a:t>
            </a:r>
            <a:r>
              <a:rPr lang="en-CA" sz="1400" dirty="0" err="1"/>
              <a:t>una</a:t>
            </a:r>
            <a:r>
              <a:rPr lang="en-CA" sz="1400" dirty="0"/>
              <a:t> pasta pomodoro </a:t>
            </a:r>
            <a:r>
              <a:rPr lang="en-CA" sz="1400" dirty="0" err="1"/>
              <a:t>básica</a:t>
            </a:r>
            <a:r>
              <a:rPr lang="en-CA" sz="1400" dirty="0"/>
              <a:t>.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8D11C-6671-889A-528F-11E89820747A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D8A84-12D2-75E1-260B-EB6ADA7F2CBA}"/>
              </a:ext>
            </a:extLst>
          </p:cNvPr>
          <p:cNvSpPr txBox="1"/>
          <p:nvPr/>
        </p:nvSpPr>
        <p:spPr>
          <a:xfrm>
            <a:off x="874773" y="2487775"/>
            <a:ext cx="230428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¿</a:t>
            </a:r>
            <a:r>
              <a:rPr lang="en-CA" dirty="0" err="1"/>
              <a:t>Crees</a:t>
            </a:r>
            <a:r>
              <a:rPr lang="en-CA" dirty="0"/>
              <a:t> </a:t>
            </a:r>
            <a:r>
              <a:rPr lang="en-CA" dirty="0" err="1"/>
              <a:t>que</a:t>
            </a:r>
            <a:r>
              <a:rPr lang="en-CA" dirty="0"/>
              <a:t> </a:t>
            </a:r>
            <a:r>
              <a:rPr lang="en-CA" dirty="0" err="1"/>
              <a:t>deba</a:t>
            </a:r>
            <a:r>
              <a:rPr lang="en-CA" dirty="0"/>
              <a:t> </a:t>
            </a:r>
            <a:r>
              <a:rPr lang="en-CA" dirty="0" err="1"/>
              <a:t>añadirle</a:t>
            </a:r>
            <a:r>
              <a:rPr lang="en-CA" dirty="0"/>
              <a:t> </a:t>
            </a:r>
            <a:r>
              <a:rPr lang="en-CA" dirty="0" err="1"/>
              <a:t>azúcar</a:t>
            </a:r>
            <a:r>
              <a:rPr lang="en-CA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04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E0170-27EC-51F3-1668-9723D2D4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FC93DB4-D80B-4537-DCC7-BBE0D0ACCA71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DB904-1F11-C20E-7B89-460E7F0C0552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5C56AF-424D-AEBA-1C63-10D89D382E4B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FD42D-FD5F-1828-C507-AA456CD71C20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CBAAF-2C81-A4F1-3895-F25CC836671D}"/>
              </a:ext>
            </a:extLst>
          </p:cNvPr>
          <p:cNvSpPr txBox="1"/>
          <p:nvPr/>
        </p:nvSpPr>
        <p:spPr>
          <a:xfrm>
            <a:off x="3566159" y="2036219"/>
            <a:ext cx="230428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Hola, </a:t>
            </a:r>
            <a:r>
              <a:rPr lang="en-CA" sz="1400" dirty="0" err="1"/>
              <a:t>tengo</a:t>
            </a:r>
            <a:r>
              <a:rPr lang="en-CA" sz="1400" dirty="0"/>
              <a:t> </a:t>
            </a:r>
            <a:r>
              <a:rPr lang="en-CA" sz="1400" dirty="0" err="1"/>
              <a:t>tomate</a:t>
            </a:r>
            <a:r>
              <a:rPr lang="en-CA" sz="1400" dirty="0"/>
              <a:t> y pasta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525DD-74D6-1BBD-9085-347089217B7E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E72B1B-539A-72C5-C867-AEF44B1DA2E3}"/>
              </a:ext>
            </a:extLst>
          </p:cNvPr>
          <p:cNvSpPr txBox="1"/>
          <p:nvPr/>
        </p:nvSpPr>
        <p:spPr>
          <a:xfrm>
            <a:off x="3566159" y="2397181"/>
            <a:ext cx="230428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¡Genial! </a:t>
            </a:r>
            <a:r>
              <a:rPr lang="en-CA" sz="1400" dirty="0" err="1"/>
              <a:t>Puedes</a:t>
            </a:r>
            <a:r>
              <a:rPr lang="en-CA" sz="1400" dirty="0"/>
              <a:t> </a:t>
            </a:r>
            <a:r>
              <a:rPr lang="en-CA" sz="1400" dirty="0" err="1"/>
              <a:t>hacer</a:t>
            </a:r>
            <a:r>
              <a:rPr lang="en-CA" sz="1400" dirty="0"/>
              <a:t> </a:t>
            </a:r>
            <a:r>
              <a:rPr lang="en-CA" sz="1400" dirty="0" err="1"/>
              <a:t>una</a:t>
            </a:r>
            <a:r>
              <a:rPr lang="en-CA" sz="1400" dirty="0"/>
              <a:t> pasta pomodoro </a:t>
            </a:r>
            <a:r>
              <a:rPr lang="en-CA" sz="1400" dirty="0" err="1"/>
              <a:t>básica</a:t>
            </a:r>
            <a:r>
              <a:rPr lang="en-CA" sz="1400" dirty="0"/>
              <a:t>.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7511A-78CA-C53E-D79D-4960A1DC0626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C372E-73FB-714C-6833-DD35B4163453}"/>
              </a:ext>
            </a:extLst>
          </p:cNvPr>
          <p:cNvSpPr txBox="1"/>
          <p:nvPr/>
        </p:nvSpPr>
        <p:spPr>
          <a:xfrm>
            <a:off x="3566159" y="2945927"/>
            <a:ext cx="230428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¿</a:t>
            </a:r>
            <a:r>
              <a:rPr lang="en-CA" sz="1400" dirty="0" err="1"/>
              <a:t>Crees</a:t>
            </a:r>
            <a:r>
              <a:rPr lang="en-CA" sz="1400" dirty="0"/>
              <a:t> </a:t>
            </a:r>
            <a:r>
              <a:rPr lang="en-CA" sz="1400" dirty="0" err="1"/>
              <a:t>que</a:t>
            </a:r>
            <a:r>
              <a:rPr lang="en-CA" sz="1400" dirty="0"/>
              <a:t> </a:t>
            </a:r>
            <a:r>
              <a:rPr lang="en-CA" sz="1400" dirty="0" err="1"/>
              <a:t>deba</a:t>
            </a:r>
            <a:r>
              <a:rPr lang="en-CA" sz="1400" dirty="0"/>
              <a:t> </a:t>
            </a:r>
            <a:r>
              <a:rPr lang="en-CA" sz="1400" dirty="0" err="1"/>
              <a:t>añadirle</a:t>
            </a:r>
            <a:r>
              <a:rPr lang="en-CA" sz="1400" dirty="0"/>
              <a:t> </a:t>
            </a:r>
            <a:r>
              <a:rPr lang="en-CA" sz="1400" dirty="0" err="1"/>
              <a:t>azúcar</a:t>
            </a:r>
            <a:r>
              <a:rPr lang="en-CA" sz="1400" dirty="0"/>
              <a:t>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50080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AE0B-8B90-3846-E175-3DA7D7CD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823AE0A1-FDC2-14D5-97A7-6D1A3D77152B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37B57-BA45-B239-83C5-819524782E67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D70799-2BC1-FF4A-96B1-8D39ACFC6BB3}"/>
              </a:ext>
            </a:extLst>
          </p:cNvPr>
          <p:cNvSpPr/>
          <p:nvPr/>
        </p:nvSpPr>
        <p:spPr>
          <a:xfrm>
            <a:off x="3487097" y="1851660"/>
            <a:ext cx="2462414" cy="2496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943F5-89F5-B01D-1739-4CF4C3EFD815}"/>
              </a:ext>
            </a:extLst>
          </p:cNvPr>
          <p:cNvSpPr txBox="1"/>
          <p:nvPr/>
        </p:nvSpPr>
        <p:spPr>
          <a:xfrm>
            <a:off x="3658109" y="4499848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Ventana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0C477A-813A-F119-3EFB-92C0EB762D4E}"/>
              </a:ext>
            </a:extLst>
          </p:cNvPr>
          <p:cNvSpPr txBox="1"/>
          <p:nvPr/>
        </p:nvSpPr>
        <p:spPr>
          <a:xfrm>
            <a:off x="3566159" y="2036219"/>
            <a:ext cx="230428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Hola, </a:t>
            </a:r>
            <a:r>
              <a:rPr lang="en-CA" sz="1400" dirty="0" err="1"/>
              <a:t>tengo</a:t>
            </a:r>
            <a:r>
              <a:rPr lang="en-CA" sz="1400" dirty="0"/>
              <a:t> </a:t>
            </a:r>
            <a:r>
              <a:rPr lang="en-CA" sz="1400" dirty="0" err="1"/>
              <a:t>tomate</a:t>
            </a:r>
            <a:r>
              <a:rPr lang="en-CA" sz="1400" dirty="0"/>
              <a:t> y pasta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1039F1-B27A-81FB-9AFE-DE5F790A3F6F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CD1DA-3C5B-25EF-7EDF-4A3BA4DD30C6}"/>
              </a:ext>
            </a:extLst>
          </p:cNvPr>
          <p:cNvSpPr txBox="1"/>
          <p:nvPr/>
        </p:nvSpPr>
        <p:spPr>
          <a:xfrm>
            <a:off x="3566159" y="2397181"/>
            <a:ext cx="230428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¡Genial! </a:t>
            </a:r>
            <a:r>
              <a:rPr lang="en-CA" sz="1400" dirty="0" err="1"/>
              <a:t>Puedes</a:t>
            </a:r>
            <a:r>
              <a:rPr lang="en-CA" sz="1400" dirty="0"/>
              <a:t> </a:t>
            </a:r>
            <a:r>
              <a:rPr lang="en-CA" sz="1400" dirty="0" err="1"/>
              <a:t>hacer</a:t>
            </a:r>
            <a:r>
              <a:rPr lang="en-CA" sz="1400" dirty="0"/>
              <a:t> </a:t>
            </a:r>
            <a:r>
              <a:rPr lang="en-CA" sz="1400" dirty="0" err="1"/>
              <a:t>una</a:t>
            </a:r>
            <a:r>
              <a:rPr lang="en-CA" sz="1400" dirty="0"/>
              <a:t> pasta pomodoro </a:t>
            </a:r>
            <a:r>
              <a:rPr lang="en-CA" sz="1400" dirty="0" err="1"/>
              <a:t>básica</a:t>
            </a:r>
            <a:r>
              <a:rPr lang="en-CA" sz="1400" dirty="0"/>
              <a:t>.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E81AB-7D09-59B9-66E2-4ACE4E8A6A7E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76888-48E8-C897-F97A-AC993338943D}"/>
              </a:ext>
            </a:extLst>
          </p:cNvPr>
          <p:cNvSpPr txBox="1"/>
          <p:nvPr/>
        </p:nvSpPr>
        <p:spPr>
          <a:xfrm>
            <a:off x="3566159" y="2945927"/>
            <a:ext cx="230428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¿</a:t>
            </a:r>
            <a:r>
              <a:rPr lang="en-CA" sz="1400" dirty="0" err="1"/>
              <a:t>Crees</a:t>
            </a:r>
            <a:r>
              <a:rPr lang="en-CA" sz="1400" dirty="0"/>
              <a:t> </a:t>
            </a:r>
            <a:r>
              <a:rPr lang="en-CA" sz="1400" dirty="0" err="1"/>
              <a:t>que</a:t>
            </a:r>
            <a:r>
              <a:rPr lang="en-CA" sz="1400" dirty="0"/>
              <a:t> </a:t>
            </a:r>
            <a:r>
              <a:rPr lang="en-CA" sz="1400" dirty="0" err="1"/>
              <a:t>deba</a:t>
            </a:r>
            <a:r>
              <a:rPr lang="en-CA" sz="1400" dirty="0"/>
              <a:t> </a:t>
            </a:r>
            <a:r>
              <a:rPr lang="en-CA" sz="1400" dirty="0" err="1"/>
              <a:t>añadirle</a:t>
            </a:r>
            <a:r>
              <a:rPr lang="en-CA" sz="1400" dirty="0"/>
              <a:t> </a:t>
            </a:r>
            <a:r>
              <a:rPr lang="en-CA" sz="1400" dirty="0" err="1"/>
              <a:t>azúcar</a:t>
            </a:r>
            <a:r>
              <a:rPr lang="en-CA" sz="1400" dirty="0"/>
              <a:t>?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FA006-AA02-9282-C446-A97695008431}"/>
              </a:ext>
            </a:extLst>
          </p:cNvPr>
          <p:cNvSpPr txBox="1"/>
          <p:nvPr/>
        </p:nvSpPr>
        <p:spPr>
          <a:xfrm>
            <a:off x="6352032" y="2221652"/>
            <a:ext cx="268224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Sí</a:t>
            </a:r>
            <a:r>
              <a:rPr lang="en-CA" dirty="0"/>
              <a:t>, </a:t>
            </a:r>
            <a:r>
              <a:rPr lang="en-CA" dirty="0" err="1"/>
              <a:t>una</a:t>
            </a:r>
            <a:r>
              <a:rPr lang="en-CA" dirty="0"/>
              <a:t> </a:t>
            </a:r>
            <a:r>
              <a:rPr lang="en-CA" dirty="0" err="1"/>
              <a:t>pizca</a:t>
            </a:r>
            <a:r>
              <a:rPr lang="en-CA" dirty="0"/>
              <a:t> de </a:t>
            </a:r>
            <a:r>
              <a:rPr lang="en-CA" dirty="0" err="1"/>
              <a:t>azúcar</a:t>
            </a:r>
            <a:r>
              <a:rPr lang="en-CA" dirty="0"/>
              <a:t> </a:t>
            </a:r>
            <a:r>
              <a:rPr lang="en-CA" dirty="0" err="1"/>
              <a:t>ayuda</a:t>
            </a:r>
            <a:r>
              <a:rPr lang="en-CA" dirty="0"/>
              <a:t> a </a:t>
            </a:r>
            <a:r>
              <a:rPr lang="en-CA" dirty="0" err="1"/>
              <a:t>equilibrar</a:t>
            </a:r>
            <a:r>
              <a:rPr lang="en-CA" dirty="0"/>
              <a:t> la </a:t>
            </a:r>
            <a:r>
              <a:rPr lang="en-CA" dirty="0" err="1"/>
              <a:t>acidez</a:t>
            </a:r>
            <a:r>
              <a:rPr lang="en-CA" dirty="0"/>
              <a:t> de </a:t>
            </a:r>
            <a:r>
              <a:rPr lang="en-CA" dirty="0" err="1"/>
              <a:t>los</a:t>
            </a:r>
            <a:r>
              <a:rPr lang="en-CA" dirty="0"/>
              <a:t> </a:t>
            </a:r>
            <a:r>
              <a:rPr lang="en-CA" b="1" dirty="0" err="1"/>
              <a:t>tomates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34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6543-2D5E-E700-4EEA-531AC418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633B793-A8BA-4A78-5C33-B80AA5084098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527022-FDD7-605D-F5DC-22869880A54C}"/>
              </a:ext>
            </a:extLst>
          </p:cNvPr>
          <p:cNvSpPr txBox="1"/>
          <p:nvPr/>
        </p:nvSpPr>
        <p:spPr>
          <a:xfrm>
            <a:off x="768096" y="1152144"/>
            <a:ext cx="790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9AF24-4549-847E-509C-7F6AB3DDD3B3}"/>
              </a:ext>
            </a:extLst>
          </p:cNvPr>
          <p:cNvSpPr txBox="1"/>
          <p:nvPr/>
        </p:nvSpPr>
        <p:spPr>
          <a:xfrm>
            <a:off x="3658109" y="4499848"/>
            <a:ext cx="2467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 </a:t>
            </a:r>
            <a:r>
              <a:rPr lang="en-US" dirty="0" err="1"/>
              <a:t>ventana</a:t>
            </a:r>
            <a:r>
              <a:rPr lang="en-US" dirty="0"/>
              <a:t> de </a:t>
            </a:r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4C48AB-AF75-873B-C880-349AAE450B9E}"/>
              </a:ext>
            </a:extLst>
          </p:cNvPr>
          <p:cNvSpPr txBox="1"/>
          <p:nvPr/>
        </p:nvSpPr>
        <p:spPr>
          <a:xfrm>
            <a:off x="148530" y="327476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🧔🏻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ACD7B-6991-42BF-170B-4E402E0E5A61}"/>
              </a:ext>
            </a:extLst>
          </p:cNvPr>
          <p:cNvSpPr txBox="1"/>
          <p:nvPr/>
        </p:nvSpPr>
        <p:spPr>
          <a:xfrm>
            <a:off x="6101275" y="327476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E1D92-F711-5A4A-52F2-56B4D3BDB141}"/>
              </a:ext>
            </a:extLst>
          </p:cNvPr>
          <p:cNvSpPr txBox="1"/>
          <p:nvPr/>
        </p:nvSpPr>
        <p:spPr>
          <a:xfrm>
            <a:off x="874773" y="2487775"/>
            <a:ext cx="230428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¿</a:t>
            </a:r>
            <a:r>
              <a:rPr lang="en-CA" dirty="0" err="1"/>
              <a:t>Crees</a:t>
            </a:r>
            <a:r>
              <a:rPr lang="en-CA" dirty="0"/>
              <a:t> </a:t>
            </a:r>
            <a:r>
              <a:rPr lang="en-CA" dirty="0" err="1"/>
              <a:t>que</a:t>
            </a:r>
            <a:r>
              <a:rPr lang="en-CA" dirty="0"/>
              <a:t> </a:t>
            </a:r>
            <a:r>
              <a:rPr lang="en-CA" dirty="0" err="1"/>
              <a:t>deba</a:t>
            </a:r>
            <a:r>
              <a:rPr lang="en-CA" dirty="0"/>
              <a:t> </a:t>
            </a:r>
            <a:r>
              <a:rPr lang="en-CA" dirty="0" err="1"/>
              <a:t>añadirle</a:t>
            </a:r>
            <a:r>
              <a:rPr lang="en-CA" dirty="0"/>
              <a:t> </a:t>
            </a:r>
            <a:r>
              <a:rPr lang="en-CA" dirty="0" err="1"/>
              <a:t>azúcar</a:t>
            </a:r>
            <a:r>
              <a:rPr lang="en-CA" dirty="0"/>
              <a:t>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85C3E-9D2F-7416-A062-99F52BF9E154}"/>
              </a:ext>
            </a:extLst>
          </p:cNvPr>
          <p:cNvSpPr txBox="1"/>
          <p:nvPr/>
        </p:nvSpPr>
        <p:spPr>
          <a:xfrm>
            <a:off x="6370320" y="2487774"/>
            <a:ext cx="268224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Depende</a:t>
            </a:r>
            <a:r>
              <a:rPr lang="en-CA" dirty="0"/>
              <a:t>, ¿a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quieres</a:t>
            </a:r>
            <a:r>
              <a:rPr lang="en-CA" dirty="0"/>
              <a:t> </a:t>
            </a:r>
            <a:r>
              <a:rPr lang="en-CA" dirty="0" err="1"/>
              <a:t>añadirle</a:t>
            </a:r>
            <a:r>
              <a:rPr lang="en-CA" dirty="0"/>
              <a:t> </a:t>
            </a:r>
            <a:r>
              <a:rPr lang="en-CA" dirty="0" err="1"/>
              <a:t>azucar</a:t>
            </a:r>
            <a:r>
              <a:rPr lang="en-CA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61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634E-57A3-D623-E5F6-2C265432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FBF07958-114D-CE9B-202B-0D564A41C499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13FEE-2002-EDD6-BDAC-B663AE08A468}"/>
              </a:ext>
            </a:extLst>
          </p:cNvPr>
          <p:cNvSpPr txBox="1"/>
          <p:nvPr/>
        </p:nvSpPr>
        <p:spPr>
          <a:xfrm>
            <a:off x="768096" y="1152144"/>
            <a:ext cx="35570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Las </a:t>
            </a:r>
            <a:r>
              <a:rPr lang="en-CA" dirty="0" err="1"/>
              <a:t>aplicaciones</a:t>
            </a:r>
            <a:r>
              <a:rPr lang="en-CA" dirty="0"/>
              <a:t> </a:t>
            </a:r>
            <a:r>
              <a:rPr lang="en-CA" dirty="0" err="1"/>
              <a:t>como</a:t>
            </a:r>
            <a:r>
              <a:rPr lang="en-CA" dirty="0"/>
              <a:t> ChatGPT, Claude y Gemini </a:t>
            </a:r>
            <a:r>
              <a:rPr lang="en-CA" dirty="0" err="1"/>
              <a:t>crean</a:t>
            </a:r>
            <a:r>
              <a:rPr lang="en-CA" dirty="0"/>
              <a:t> </a:t>
            </a:r>
            <a:r>
              <a:rPr lang="en-CA" dirty="0" err="1"/>
              <a:t>resumenes</a:t>
            </a:r>
            <a:r>
              <a:rPr lang="en-CA" dirty="0"/>
              <a:t> </a:t>
            </a:r>
            <a:r>
              <a:rPr lang="en-CA" dirty="0" err="1"/>
              <a:t>sobre</a:t>
            </a:r>
            <a:r>
              <a:rPr lang="en-CA" dirty="0"/>
              <a:t> </a:t>
            </a:r>
            <a:r>
              <a:rPr lang="en-CA" dirty="0" err="1"/>
              <a:t>ti</a:t>
            </a:r>
            <a:r>
              <a:rPr lang="en-CA" dirty="0"/>
              <a:t> luego de </a:t>
            </a:r>
            <a:r>
              <a:rPr lang="en-CA" dirty="0" err="1"/>
              <a:t>cada</a:t>
            </a:r>
            <a:r>
              <a:rPr lang="en-CA" dirty="0"/>
              <a:t> </a:t>
            </a:r>
            <a:r>
              <a:rPr lang="en-CA" dirty="0" err="1"/>
              <a:t>conversación</a:t>
            </a:r>
            <a:r>
              <a:rPr lang="en-CA" dirty="0"/>
              <a:t> para </a:t>
            </a:r>
            <a:r>
              <a:rPr lang="en-CA" dirty="0" err="1"/>
              <a:t>simular</a:t>
            </a:r>
            <a:r>
              <a:rPr lang="en-CA" dirty="0"/>
              <a:t> memoria.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CC713-EDF2-38C7-0B67-5440354F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8160"/>
            <a:ext cx="4010604" cy="302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81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0E80-4B77-D7A9-5731-6A28ED78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F562FB58-F1AA-DB24-C44F-24101968F31B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de los LLMs es una ilusión!</a:t>
            </a:r>
            <a:endParaRPr lang="es-ES_tradnl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EB504-FC1F-F75F-5920-57D197254C2F}"/>
              </a:ext>
            </a:extLst>
          </p:cNvPr>
          <p:cNvSpPr txBox="1"/>
          <p:nvPr/>
        </p:nvSpPr>
        <p:spPr>
          <a:xfrm>
            <a:off x="768096" y="1152144"/>
            <a:ext cx="35570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Los LLMs son Stateless.</a:t>
            </a:r>
            <a:r>
              <a:rPr lang="en-CA" dirty="0"/>
              <a:t> Cada </a:t>
            </a:r>
            <a:r>
              <a:rPr lang="en-CA" dirty="0" err="1"/>
              <a:t>interacción</a:t>
            </a:r>
            <a:r>
              <a:rPr lang="en-CA" dirty="0"/>
              <a:t> con </a:t>
            </a:r>
            <a:r>
              <a:rPr lang="en-CA" dirty="0" err="1"/>
              <a:t>ellos</a:t>
            </a:r>
            <a:r>
              <a:rPr lang="en-CA" dirty="0"/>
              <a:t> </a:t>
            </a:r>
            <a:r>
              <a:rPr lang="en-CA" dirty="0" err="1"/>
              <a:t>comienza</a:t>
            </a:r>
            <a:r>
              <a:rPr lang="en-CA" dirty="0"/>
              <a:t> de cero. El </a:t>
            </a:r>
            <a:r>
              <a:rPr lang="en-CA" dirty="0" err="1"/>
              <a:t>modelo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sí</a:t>
            </a:r>
            <a:r>
              <a:rPr lang="en-CA" dirty="0"/>
              <a:t> </a:t>
            </a:r>
            <a:r>
              <a:rPr lang="en-CA" dirty="0" err="1"/>
              <a:t>mismo</a:t>
            </a:r>
            <a:r>
              <a:rPr lang="en-CA" dirty="0"/>
              <a:t> no </a:t>
            </a:r>
            <a:r>
              <a:rPr lang="en-CA" dirty="0" err="1"/>
              <a:t>tiene</a:t>
            </a:r>
            <a:r>
              <a:rPr lang="en-CA" dirty="0"/>
              <a:t> "memoria" de </a:t>
            </a:r>
            <a:r>
              <a:rPr lang="en-CA" dirty="0" err="1"/>
              <a:t>quién</a:t>
            </a:r>
            <a:r>
              <a:rPr lang="en-CA" dirty="0"/>
              <a:t> </a:t>
            </a:r>
            <a:r>
              <a:rPr lang="en-CA" dirty="0" err="1"/>
              <a:t>eres</a:t>
            </a:r>
            <a:r>
              <a:rPr lang="en-CA" dirty="0"/>
              <a:t> o </a:t>
            </a:r>
            <a:r>
              <a:rPr lang="en-CA" dirty="0" err="1"/>
              <a:t>qué</a:t>
            </a:r>
            <a:r>
              <a:rPr lang="en-CA" dirty="0"/>
              <a:t> </a:t>
            </a:r>
            <a:r>
              <a:rPr lang="en-CA" dirty="0" err="1"/>
              <a:t>dijiste</a:t>
            </a:r>
            <a:r>
              <a:rPr lang="en-CA" dirty="0"/>
              <a:t> </a:t>
            </a:r>
            <a:r>
              <a:rPr lang="en-CA" dirty="0" err="1"/>
              <a:t>hace</a:t>
            </a:r>
            <a:r>
              <a:rPr lang="en-CA" dirty="0"/>
              <a:t> un </a:t>
            </a:r>
            <a:r>
              <a:rPr lang="en-CA" dirty="0" err="1"/>
              <a:t>segundo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Las </a:t>
            </a:r>
            <a:r>
              <a:rPr lang="en-CA" dirty="0" err="1"/>
              <a:t>aplicaciones</a:t>
            </a:r>
            <a:r>
              <a:rPr lang="en-CA" dirty="0"/>
              <a:t> </a:t>
            </a:r>
            <a:r>
              <a:rPr lang="en-CA" dirty="0" err="1"/>
              <a:t>como</a:t>
            </a:r>
            <a:r>
              <a:rPr lang="en-CA" dirty="0"/>
              <a:t> ChatGPT, Claude y Gemini </a:t>
            </a:r>
            <a:r>
              <a:rPr lang="en-CA" dirty="0" err="1"/>
              <a:t>crean</a:t>
            </a:r>
            <a:r>
              <a:rPr lang="en-CA" dirty="0"/>
              <a:t> </a:t>
            </a:r>
            <a:r>
              <a:rPr lang="en-CA" dirty="0" err="1"/>
              <a:t>resumenes</a:t>
            </a:r>
            <a:r>
              <a:rPr lang="en-CA" dirty="0"/>
              <a:t> </a:t>
            </a:r>
            <a:r>
              <a:rPr lang="en-CA" dirty="0" err="1"/>
              <a:t>sobre</a:t>
            </a:r>
            <a:r>
              <a:rPr lang="en-CA" dirty="0"/>
              <a:t> </a:t>
            </a:r>
            <a:r>
              <a:rPr lang="en-CA" dirty="0" err="1"/>
              <a:t>ti</a:t>
            </a:r>
            <a:r>
              <a:rPr lang="en-CA" dirty="0"/>
              <a:t> luego de </a:t>
            </a:r>
            <a:r>
              <a:rPr lang="en-CA" dirty="0" err="1"/>
              <a:t>cada</a:t>
            </a:r>
            <a:r>
              <a:rPr lang="en-CA" dirty="0"/>
              <a:t> </a:t>
            </a:r>
            <a:r>
              <a:rPr lang="en-CA" dirty="0" err="1"/>
              <a:t>conversación</a:t>
            </a:r>
            <a:r>
              <a:rPr lang="en-CA" dirty="0"/>
              <a:t> para </a:t>
            </a:r>
            <a:r>
              <a:rPr lang="en-CA" dirty="0" err="1"/>
              <a:t>simular</a:t>
            </a:r>
            <a:r>
              <a:rPr lang="en-CA" dirty="0"/>
              <a:t> memoria.</a:t>
            </a:r>
            <a:endParaRPr lang="en-US" dirty="0"/>
          </a:p>
        </p:txBody>
      </p:sp>
      <p:pic>
        <p:nvPicPr>
          <p:cNvPr id="25602" name="Picture 2" descr="Funniest thing I tried with ChatGPT (Highly recommend you try this too!)  Prompt I gave: “Roast me based on my past prompts, no mercy, straight to my  soul.” And what came back?">
            <a:extLst>
              <a:ext uri="{FF2B5EF4-FFF2-40B4-BE49-F238E27FC236}">
                <a16:creationId xmlns:a16="http://schemas.microsoft.com/office/drawing/2014/main" id="{E5B6161B-D424-223F-C48D-3D19E0B7F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924" y="1152144"/>
            <a:ext cx="3062418" cy="306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547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DBEF-20A6-24F3-2884-BD6EB1A9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248A28F3-6C30-8D22-30D0-20E421D71B9E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LLMs funcionan con tokens, no con palabras o caracteres</a:t>
            </a:r>
            <a:endParaRPr lang="es-ES_tradnl" sz="2400" noProof="0" dirty="0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458ACFF5-3139-8E72-8B6C-603D75A44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006" y="1065248"/>
            <a:ext cx="3697987" cy="380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24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DB180-D9E0-1309-8ADB-300E577A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E972F51B-5E4F-A0E3-0D08-091A9DD2B6F7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memoria (</a:t>
            </a:r>
            <a:r>
              <a:rPr lang="es-ES_tradnl" sz="2400" b="1" noProof="0" dirty="0" err="1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2400" b="1" noProof="0" dirty="0" err="1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</a:t>
            </a:r>
            <a:r>
              <a:rPr lang="es-ES_tradnl" sz="2400" b="1" noProof="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 es limitada</a:t>
            </a:r>
            <a:endParaRPr lang="es-ES_tradnl" sz="24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AF2AB-7B9C-0FDA-C2F1-1D3E8E9AC1CB}"/>
              </a:ext>
            </a:extLst>
          </p:cNvPr>
          <p:cNvSpPr txBox="1"/>
          <p:nvPr/>
        </p:nvSpPr>
        <p:spPr>
          <a:xfrm>
            <a:off x="612648" y="1591056"/>
            <a:ext cx="3557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</a:t>
            </a:r>
            <a:r>
              <a:rPr lang="en-US" dirty="0" err="1"/>
              <a:t>Millón</a:t>
            </a:r>
            <a:r>
              <a:rPr lang="en-US" dirty="0"/>
              <a:t> de Tokens son </a:t>
            </a:r>
            <a:r>
              <a:rPr lang="en-US" dirty="0" err="1"/>
              <a:t>alrededor</a:t>
            </a:r>
            <a:r>
              <a:rPr lang="en-US" dirty="0"/>
              <a:t> 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~50,000 </a:t>
            </a:r>
            <a:r>
              <a:rPr lang="en-US" dirty="0" err="1"/>
              <a:t>líneas</a:t>
            </a:r>
            <a:r>
              <a:rPr lang="en-US" dirty="0"/>
              <a:t> de Código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</a:t>
            </a:r>
            <a:r>
              <a:rPr lang="en-US" dirty="0" err="1"/>
              <a:t>novelas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inglés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transcripción</a:t>
            </a:r>
            <a:r>
              <a:rPr lang="en-US" dirty="0"/>
              <a:t> de 200 podcasts </a:t>
            </a:r>
            <a:r>
              <a:rPr lang="en-US" dirty="0" err="1"/>
              <a:t>promedio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86AE8-50E0-2428-8838-5106E39E4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89" y="1188220"/>
            <a:ext cx="3722995" cy="313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7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8EBD-F236-8862-A6CF-6302CEBC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D369DBD-78B0-2CB1-BEC8-21E64955F5E7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2400" b="1" dirty="0" err="1"/>
              <a:t>Conocimiento</a:t>
            </a:r>
            <a:r>
              <a:rPr lang="en-CA" sz="2400" b="1" dirty="0"/>
              <a:t> </a:t>
            </a:r>
            <a:r>
              <a:rPr lang="en-CA" sz="2400" b="1" dirty="0" err="1"/>
              <a:t>Estático</a:t>
            </a:r>
            <a:r>
              <a:rPr lang="en-CA" sz="2400" b="1" dirty="0"/>
              <a:t> </a:t>
            </a:r>
            <a:r>
              <a:rPr lang="en-CA" sz="2400" b="1" dirty="0" err="1"/>
              <a:t>en</a:t>
            </a:r>
            <a:r>
              <a:rPr lang="en-CA" sz="2400" b="1" dirty="0"/>
              <a:t> un Mundo </a:t>
            </a:r>
            <a:r>
              <a:rPr lang="en-CA" sz="2400" b="1" dirty="0" err="1"/>
              <a:t>Dinámico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53C3F-83E0-F3EC-02F6-9052B5425690}"/>
              </a:ext>
            </a:extLst>
          </p:cNvPr>
          <p:cNvSpPr txBox="1"/>
          <p:nvPr/>
        </p:nvSpPr>
        <p:spPr>
          <a:xfrm>
            <a:off x="548640" y="1216152"/>
            <a:ext cx="80741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Pesos </a:t>
            </a:r>
            <a:r>
              <a:rPr lang="en-CA" b="1" dirty="0" err="1"/>
              <a:t>Fijos</a:t>
            </a:r>
            <a:r>
              <a:rPr lang="en-CA" b="1" dirty="0"/>
              <a:t>:</a:t>
            </a:r>
            <a:r>
              <a:rPr lang="en-CA" dirty="0"/>
              <a:t> El </a:t>
            </a:r>
            <a:r>
              <a:rPr lang="en-CA" dirty="0" err="1"/>
              <a:t>modelo</a:t>
            </a:r>
            <a:r>
              <a:rPr lang="en-CA" dirty="0"/>
              <a:t> es un </a:t>
            </a:r>
            <a:r>
              <a:rPr lang="en-CA" dirty="0" err="1"/>
              <a:t>archivo</a:t>
            </a:r>
            <a:r>
              <a:rPr lang="en-CA" dirty="0"/>
              <a:t> "</a:t>
            </a:r>
            <a:r>
              <a:rPr lang="en-CA" dirty="0" err="1"/>
              <a:t>congelado</a:t>
            </a:r>
            <a:r>
              <a:rPr lang="en-CA" dirty="0"/>
              <a:t>". No </a:t>
            </a:r>
            <a:r>
              <a:rPr lang="en-CA" dirty="0" err="1"/>
              <a:t>aprende</a:t>
            </a:r>
            <a:r>
              <a:rPr lang="en-CA" dirty="0"/>
              <a:t> de </a:t>
            </a:r>
            <a:r>
              <a:rPr lang="en-CA" dirty="0" err="1"/>
              <a:t>tus</a:t>
            </a:r>
            <a:r>
              <a:rPr lang="en-CA" dirty="0"/>
              <a:t> </a:t>
            </a:r>
            <a:r>
              <a:rPr lang="en-CA" dirty="0" err="1"/>
              <a:t>correcciones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tiempo</a:t>
            </a:r>
            <a:r>
              <a:rPr lang="en-CA" dirty="0"/>
              <a:t> real para sus </a:t>
            </a:r>
            <a:r>
              <a:rPr lang="en-CA" dirty="0" err="1"/>
              <a:t>futuros</a:t>
            </a:r>
            <a:r>
              <a:rPr lang="en-CA" dirty="0"/>
              <a:t> </a:t>
            </a:r>
            <a:r>
              <a:rPr lang="en-CA" dirty="0" err="1"/>
              <a:t>usuarios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Offline </a:t>
            </a:r>
            <a:r>
              <a:rPr lang="en-CA" b="1" dirty="0" err="1"/>
              <a:t>por</a:t>
            </a:r>
            <a:r>
              <a:rPr lang="en-CA" b="1" dirty="0"/>
              <a:t> </a:t>
            </a:r>
            <a:r>
              <a:rPr lang="en-CA" b="1" dirty="0" err="1"/>
              <a:t>naturaleza</a:t>
            </a:r>
            <a:r>
              <a:rPr lang="en-CA" b="1" dirty="0"/>
              <a:t>:</a:t>
            </a:r>
            <a:r>
              <a:rPr lang="en-CA" dirty="0"/>
              <a:t> Los LLMs no "</a:t>
            </a:r>
            <a:r>
              <a:rPr lang="en-CA" dirty="0" err="1"/>
              <a:t>navegan</a:t>
            </a:r>
            <a:r>
              <a:rPr lang="en-CA" dirty="0"/>
              <a:t>" </a:t>
            </a:r>
            <a:r>
              <a:rPr lang="en-CA" dirty="0" err="1"/>
              <a:t>por</a:t>
            </a:r>
            <a:r>
              <a:rPr lang="en-CA" dirty="0"/>
              <a:t> internet para </a:t>
            </a:r>
            <a:r>
              <a:rPr lang="en-CA" dirty="0" err="1"/>
              <a:t>pensar</a:t>
            </a:r>
            <a:r>
              <a:rPr lang="en-CA" dirty="0"/>
              <a:t>; </a:t>
            </a:r>
            <a:r>
              <a:rPr lang="en-CA" dirty="0" err="1"/>
              <a:t>responden</a:t>
            </a:r>
            <a:r>
              <a:rPr lang="en-CA" dirty="0"/>
              <a:t> </a:t>
            </a:r>
            <a:r>
              <a:rPr lang="en-CA" dirty="0" err="1"/>
              <a:t>basados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lo </a:t>
            </a:r>
            <a:r>
              <a:rPr lang="en-CA" dirty="0" err="1"/>
              <a:t>que</a:t>
            </a:r>
            <a:r>
              <a:rPr lang="en-CA" dirty="0"/>
              <a:t> </a:t>
            </a:r>
            <a:r>
              <a:rPr lang="en-CA" dirty="0" err="1"/>
              <a:t>comprimieron</a:t>
            </a:r>
            <a:r>
              <a:rPr lang="en-CA" dirty="0"/>
              <a:t> </a:t>
            </a:r>
            <a:r>
              <a:rPr lang="en-CA" dirty="0" err="1"/>
              <a:t>durante</a:t>
            </a:r>
            <a:r>
              <a:rPr lang="en-CA" dirty="0"/>
              <a:t> </a:t>
            </a:r>
            <a:r>
              <a:rPr lang="en-CA" dirty="0" err="1"/>
              <a:t>su</a:t>
            </a:r>
            <a:r>
              <a:rPr lang="en-CA" dirty="0"/>
              <a:t> </a:t>
            </a:r>
            <a:r>
              <a:rPr lang="en-CA" dirty="0" err="1"/>
              <a:t>entrenamiento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 err="1"/>
              <a:t>Herramientas</a:t>
            </a:r>
            <a:r>
              <a:rPr lang="en-CA" b="1" dirty="0"/>
              <a:t> </a:t>
            </a:r>
            <a:r>
              <a:rPr lang="en-CA" b="1" dirty="0" err="1"/>
              <a:t>Externas</a:t>
            </a:r>
            <a:r>
              <a:rPr lang="en-CA" b="1" dirty="0"/>
              <a:t>:</a:t>
            </a:r>
            <a:r>
              <a:rPr lang="en-CA" dirty="0"/>
              <a:t> Cuando un </a:t>
            </a:r>
            <a:r>
              <a:rPr lang="en-CA" dirty="0" err="1"/>
              <a:t>modelo</a:t>
            </a:r>
            <a:r>
              <a:rPr lang="en-CA" dirty="0"/>
              <a:t> "</a:t>
            </a:r>
            <a:r>
              <a:rPr lang="en-CA" dirty="0" err="1"/>
              <a:t>busca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Google",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realidad</a:t>
            </a:r>
            <a:r>
              <a:rPr lang="en-CA" dirty="0"/>
              <a:t> </a:t>
            </a:r>
            <a:r>
              <a:rPr lang="en-CA" dirty="0" err="1"/>
              <a:t>está</a:t>
            </a:r>
            <a:r>
              <a:rPr lang="en-CA" dirty="0"/>
              <a:t> </a:t>
            </a:r>
            <a:r>
              <a:rPr lang="en-CA" dirty="0" err="1"/>
              <a:t>usando</a:t>
            </a:r>
            <a:r>
              <a:rPr lang="en-CA" dirty="0"/>
              <a:t> </a:t>
            </a:r>
            <a:r>
              <a:rPr lang="en-CA" dirty="0" err="1"/>
              <a:t>una</a:t>
            </a:r>
            <a:r>
              <a:rPr lang="en-CA" dirty="0"/>
              <a:t> </a:t>
            </a:r>
            <a:r>
              <a:rPr lang="en-CA" dirty="0" err="1"/>
              <a:t>herramienta</a:t>
            </a:r>
            <a:r>
              <a:rPr lang="en-CA" dirty="0"/>
              <a:t> externa para meter </a:t>
            </a:r>
            <a:r>
              <a:rPr lang="en-CA" dirty="0" err="1"/>
              <a:t>texto</a:t>
            </a:r>
            <a:r>
              <a:rPr lang="en-CA" dirty="0"/>
              <a:t> nuevo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su</a:t>
            </a:r>
            <a:r>
              <a:rPr lang="en-CA" dirty="0"/>
              <a:t> </a:t>
            </a:r>
            <a:r>
              <a:rPr lang="en-CA" i="1" dirty="0"/>
              <a:t>Context Window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Knowledge Cutoff (Abril 2026):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b="1" dirty="0"/>
              <a:t>GPT-5.4:</a:t>
            </a:r>
            <a:r>
              <a:rPr lang="en-CA" dirty="0"/>
              <a:t> Agosto 2025.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b="1" dirty="0"/>
              <a:t>Claude 4.6:</a:t>
            </a:r>
            <a:r>
              <a:rPr lang="en-CA" dirty="0"/>
              <a:t> Mayo 2025.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b="1" dirty="0"/>
              <a:t>Gemini 3.1 Pro: </a:t>
            </a:r>
            <a:r>
              <a:rPr lang="en-CA" dirty="0" err="1"/>
              <a:t>Enero</a:t>
            </a:r>
            <a:r>
              <a:rPr lang="en-CA" dirty="0"/>
              <a:t>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58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201B-A684-13E5-F2BB-254DC4BC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D9FD6D23-6E32-809D-8FCF-A210030E32B3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Google search vs LLM query vs AI Powered Search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0EA99-7EA8-03A4-9D72-C7D24816C508}"/>
              </a:ext>
            </a:extLst>
          </p:cNvPr>
          <p:cNvSpPr txBox="1"/>
          <p:nvPr/>
        </p:nvSpPr>
        <p:spPr>
          <a:xfrm>
            <a:off x="548640" y="1417588"/>
            <a:ext cx="4023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Escuché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integración</a:t>
            </a:r>
            <a:r>
              <a:rPr lang="en-US" dirty="0"/>
              <a:t> </a:t>
            </a:r>
            <a:r>
              <a:rPr lang="en-US" dirty="0" err="1"/>
              <a:t>financiera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ser </a:t>
            </a:r>
            <a:r>
              <a:rPr lang="en-US" dirty="0" err="1"/>
              <a:t>contraintuitivamente</a:t>
            </a:r>
            <a:r>
              <a:rPr lang="en-US" dirty="0"/>
              <a:t> </a:t>
            </a:r>
            <a:r>
              <a:rPr lang="en-US" dirty="0" err="1"/>
              <a:t>perjudicial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. Por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Brasil</a:t>
            </a:r>
            <a:r>
              <a:rPr lang="en-US" dirty="0"/>
              <a:t> gran </a:t>
            </a:r>
            <a:r>
              <a:rPr lang="en-US" dirty="0" err="1"/>
              <a:t>parte</a:t>
            </a:r>
            <a:r>
              <a:rPr lang="en-US" dirty="0"/>
              <a:t> de las </a:t>
            </a:r>
            <a:r>
              <a:rPr lang="en-US" dirty="0" err="1"/>
              <a:t>transferencias</a:t>
            </a:r>
            <a:r>
              <a:rPr lang="en-US" dirty="0"/>
              <a:t> del </a:t>
            </a:r>
            <a:r>
              <a:rPr lang="en-US" dirty="0" err="1"/>
              <a:t>estado</a:t>
            </a:r>
            <a:r>
              <a:rPr lang="en-US" dirty="0"/>
              <a:t> </a:t>
            </a:r>
            <a:r>
              <a:rPr lang="en-US" dirty="0" err="1"/>
              <a:t>terminan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plataformas</a:t>
            </a:r>
            <a:r>
              <a:rPr lang="en-US" dirty="0"/>
              <a:t> de </a:t>
            </a:r>
            <a:r>
              <a:rPr lang="en-US" dirty="0" err="1"/>
              <a:t>apuestas</a:t>
            </a:r>
            <a:r>
              <a:rPr lang="en-US" dirty="0"/>
              <a:t>. </a:t>
            </a:r>
            <a:r>
              <a:rPr lang="en-US" dirty="0" err="1"/>
              <a:t>Podrías</a:t>
            </a:r>
            <a:r>
              <a:rPr lang="en-US" dirty="0"/>
              <a:t> </a:t>
            </a:r>
            <a:r>
              <a:rPr lang="en-US" dirty="0" err="1"/>
              <a:t>darme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concretos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y </a:t>
            </a:r>
            <a:r>
              <a:rPr lang="en-US" dirty="0" err="1"/>
              <a:t>elaborar</a:t>
            </a:r>
            <a:r>
              <a:rPr lang="en-US" dirty="0"/>
              <a:t> un </a:t>
            </a:r>
            <a:r>
              <a:rPr lang="en-US" dirty="0" err="1"/>
              <a:t>reporte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?”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A8CBB-CEF9-CF31-F7FD-025431661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128879"/>
            <a:ext cx="4117856" cy="288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5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36F2-E7C7-E7B7-AAAA-B14C9962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55CA1113-7048-2839-D1D6-892C9DD8D424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Google search vs LLM query vs AI Powered Search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9DFFA9-1CFD-1F4A-8A25-EDE465DC9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297"/>
          <a:stretch>
            <a:fillRect/>
          </a:stretch>
        </p:blipFill>
        <p:spPr>
          <a:xfrm>
            <a:off x="4855464" y="1128879"/>
            <a:ext cx="4117856" cy="1376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F3D658-9379-1177-29FA-8490A0134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089442"/>
            <a:ext cx="3886200" cy="14823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8637A9-F940-4C8A-F7AB-B0FDFC6097DB}"/>
              </a:ext>
            </a:extLst>
          </p:cNvPr>
          <p:cNvSpPr txBox="1"/>
          <p:nvPr/>
        </p:nvSpPr>
        <p:spPr>
          <a:xfrm>
            <a:off x="1703591" y="257175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AI Mode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F69E6-8AA2-4EA8-4D5B-FE32080E66D1}"/>
              </a:ext>
            </a:extLst>
          </p:cNvPr>
          <p:cNvSpPr txBox="1"/>
          <p:nvPr/>
        </p:nvSpPr>
        <p:spPr>
          <a:xfrm>
            <a:off x="6148091" y="2596550"/>
            <a:ext cx="1532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Search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0B6FBE-2AB2-4BDA-54B7-7042231AE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695" y="3050058"/>
            <a:ext cx="2722104" cy="13408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00982A-6F1F-EE93-E241-D02E6AA88D3F}"/>
              </a:ext>
            </a:extLst>
          </p:cNvPr>
          <p:cNvSpPr txBox="1"/>
          <p:nvPr/>
        </p:nvSpPr>
        <p:spPr>
          <a:xfrm>
            <a:off x="1194693" y="4499848"/>
            <a:ext cx="2722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Gemini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52F9C-590E-51E8-16B9-A7154A32D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5318" y="3393636"/>
            <a:ext cx="3482385" cy="124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55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0369-AE28-A074-8DD0-383F43F0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8245A41B-6CB9-5340-C7CC-78470092BE52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Muchos </a:t>
            </a:r>
            <a:r>
              <a:rPr lang="en-US" sz="2400" dirty="0" err="1"/>
              <a:t>modelos</a:t>
            </a:r>
            <a:r>
              <a:rPr lang="en-US" sz="2400" dirty="0"/>
              <a:t> </a:t>
            </a:r>
            <a:r>
              <a:rPr lang="en-CA" sz="2400" dirty="0"/>
              <a:t>¿</a:t>
            </a:r>
            <a:r>
              <a:rPr lang="en-US" sz="2400" dirty="0" err="1"/>
              <a:t>Cuál</a:t>
            </a:r>
            <a:r>
              <a:rPr lang="en-US" sz="2400" dirty="0"/>
              <a:t> </a:t>
            </a:r>
            <a:r>
              <a:rPr lang="en-US" sz="2400" dirty="0" err="1"/>
              <a:t>escoger</a:t>
            </a:r>
            <a:r>
              <a:rPr lang="en-US" sz="2400" dirty="0"/>
              <a:t>?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D5EDB-1FD3-9661-3AA3-633C861C1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097745"/>
            <a:ext cx="6099048" cy="348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01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063A-4C5F-9B62-61AC-FF9B02CE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A8B26870-6CC9-9A65-419E-0267459405D0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Muchos </a:t>
            </a:r>
            <a:r>
              <a:rPr lang="en-US" sz="2400" dirty="0" err="1"/>
              <a:t>modelos</a:t>
            </a:r>
            <a:r>
              <a:rPr lang="en-US" sz="2400" dirty="0"/>
              <a:t> </a:t>
            </a:r>
            <a:r>
              <a:rPr lang="en-CA" sz="2400" dirty="0"/>
              <a:t>¿</a:t>
            </a:r>
            <a:r>
              <a:rPr lang="en-US" sz="2400" dirty="0" err="1"/>
              <a:t>Cuál</a:t>
            </a:r>
            <a:r>
              <a:rPr lang="en-US" sz="2400" dirty="0"/>
              <a:t> </a:t>
            </a:r>
            <a:r>
              <a:rPr lang="en-US" sz="2400" dirty="0" err="1"/>
              <a:t>escoger</a:t>
            </a:r>
            <a:r>
              <a:rPr lang="en-US" sz="2400" dirty="0"/>
              <a:t>?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3AA6C-D1B4-7CD1-CAF0-1A5D74A00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14400"/>
            <a:ext cx="7772400" cy="379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50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730B-D1E7-2A27-B7AB-BBB851CC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E3875AE5-C8A4-44A1-63CB-84845725DF24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2400" dirty="0" err="1"/>
              <a:t>Otras</a:t>
            </a:r>
            <a:r>
              <a:rPr lang="en-CA" sz="2400" dirty="0"/>
              <a:t> </a:t>
            </a:r>
            <a:r>
              <a:rPr lang="en-CA" sz="2400" dirty="0" err="1"/>
              <a:t>dimensiones</a:t>
            </a:r>
            <a:r>
              <a:rPr lang="en-CA" sz="2400" dirty="0"/>
              <a:t> </a:t>
            </a:r>
            <a:r>
              <a:rPr lang="en-CA" sz="2400" dirty="0" err="1"/>
              <a:t>importantes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26071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8C98-B08A-D328-9EBE-733F28C7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45447D1E-A7BB-C744-209C-75DA6F9FE39B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2400" dirty="0" err="1"/>
              <a:t>Otras</a:t>
            </a:r>
            <a:r>
              <a:rPr lang="en-CA" sz="2400" dirty="0"/>
              <a:t> </a:t>
            </a:r>
            <a:r>
              <a:rPr lang="en-CA" sz="2400" dirty="0" err="1"/>
              <a:t>dimensiones</a:t>
            </a:r>
            <a:r>
              <a:rPr lang="en-CA" sz="2400" dirty="0"/>
              <a:t> </a:t>
            </a:r>
            <a:r>
              <a:rPr lang="en-CA" sz="2400" dirty="0" err="1"/>
              <a:t>importantes</a:t>
            </a: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178A4-9FFF-6E9D-C1FC-ED52A6865DFD}"/>
              </a:ext>
            </a:extLst>
          </p:cNvPr>
          <p:cNvSpPr txBox="1"/>
          <p:nvPr/>
        </p:nvSpPr>
        <p:spPr>
          <a:xfrm>
            <a:off x="768096" y="1152144"/>
            <a:ext cx="7900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Tamaños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APIs y Costos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Complacencia</a:t>
            </a:r>
            <a:r>
              <a:rPr lang="en-CA" dirty="0"/>
              <a:t> y </a:t>
            </a:r>
            <a:r>
              <a:rPr lang="en-CA" dirty="0" err="1"/>
              <a:t>alucinaciones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435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36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Lo Básico</a:t>
            </a:r>
            <a:endParaRPr lang="es-ES_tradnl" sz="36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8046720" cy="548640"/>
          </a:xfrm>
          <a:prstGeom prst="line">
            <a:avLst/>
          </a:prstGeom>
          <a:solidFill>
            <a:srgbClr val="6366F1">
              <a:alpha val="9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Regla de oro: "La claridad importa más que la creatividad" — </a:t>
            </a:r>
            <a:r>
              <a:rPr lang="es-ES_tradnl" sz="1500" b="1" noProof="0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r>
              <a:rPr lang="es-ES_tradnl" sz="15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500" b="1" noProof="0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s-ES_tradnl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606040" cy="1920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864" cy="1920240"/>
          </a:xfrm>
          <a:prstGeom prst="lin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</a:t>
            </a:r>
            <a:r>
              <a:rPr lang="es-ES_tradnl" sz="1500" b="1" noProof="0" dirty="0" err="1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Shot</a:t>
            </a:r>
            <a:endParaRPr lang="es-ES_tradnl" sz="1500" noProof="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ejemplos. Solo la instrucción.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"Traduce esto al inglés: Hola mundo"</a:t>
            </a:r>
            <a:endParaRPr lang="es-ES_tradnl" sz="1100" noProof="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06040" cy="1920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0"/>
          <p:cNvSpPr/>
          <p:nvPr/>
        </p:nvSpPr>
        <p:spPr>
          <a:xfrm>
            <a:off x="3383280" y="1783080"/>
            <a:ext cx="54864" cy="192024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1"/>
          <p:cNvSpPr/>
          <p:nvPr/>
        </p:nvSpPr>
        <p:spPr>
          <a:xfrm>
            <a:off x="35661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 err="1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</a:t>
            </a:r>
            <a:endParaRPr lang="es-ES_tradnl" sz="1500" noProof="0" dirty="0"/>
          </a:p>
        </p:txBody>
      </p:sp>
      <p:sp>
        <p:nvSpPr>
          <p:cNvPr id="15" name="Text 12"/>
          <p:cNvSpPr/>
          <p:nvPr/>
        </p:nvSpPr>
        <p:spPr>
          <a:xfrm>
            <a:off x="3566160" y="2240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ejemplos para establecer el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Positivo: Me encanta → 1</a:t>
            </a:r>
          </a:p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Negativo: Odio esto → 0</a:t>
            </a:r>
          </a:p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Analiza: ...</a:t>
            </a:r>
            <a:endParaRPr lang="es-ES_tradnl" sz="1100" noProof="0" dirty="0"/>
          </a:p>
        </p:txBody>
      </p:sp>
      <p:sp>
        <p:nvSpPr>
          <p:cNvPr id="16" name="Shape 13"/>
          <p:cNvSpPr/>
          <p:nvPr/>
        </p:nvSpPr>
        <p:spPr>
          <a:xfrm>
            <a:off x="6217920" y="1783080"/>
            <a:ext cx="2606040" cy="1920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Shape 14"/>
          <p:cNvSpPr/>
          <p:nvPr/>
        </p:nvSpPr>
        <p:spPr>
          <a:xfrm>
            <a:off x="6217920" y="1783080"/>
            <a:ext cx="54864" cy="192024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8" name="Text 15"/>
          <p:cNvSpPr/>
          <p:nvPr/>
        </p:nvSpPr>
        <p:spPr>
          <a:xfrm>
            <a:off x="64008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 err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</a:t>
            </a:r>
            <a:r>
              <a:rPr lang="es-ES_tradnl" sz="1500" b="1" noProof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1500" b="1" noProof="0" dirty="0" err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r>
              <a:rPr lang="es-ES_tradnl" sz="1500" b="1" noProof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1500" b="1" noProof="0" dirty="0" err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s-ES_tradnl" sz="1500" noProof="0" dirty="0"/>
          </a:p>
        </p:txBody>
      </p:sp>
      <p:sp>
        <p:nvSpPr>
          <p:cNvPr id="19" name="Text 16"/>
          <p:cNvSpPr/>
          <p:nvPr/>
        </p:nvSpPr>
        <p:spPr>
          <a:xfrm>
            <a:off x="6400800" y="2240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que razone paso a paso.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"Piensa paso a paso antes de responder"</a:t>
            </a:r>
            <a:endParaRPr lang="es-ES_tradnl" sz="1100" noProof="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de principiantes:</a:t>
            </a:r>
            <a:endParaRPr lang="es-ES_tradnl" sz="1300" noProof="0" dirty="0"/>
          </a:p>
        </p:txBody>
      </p:sp>
      <p:sp>
        <p:nvSpPr>
          <p:cNvPr id="21" name="Text 1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demasiado vago  •  No iterar (el primer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rara vez es perfecto)  •  No verificar el output  •  No dar contexto suficiente</a:t>
            </a:r>
            <a:endParaRPr lang="es-ES_tradnl" sz="1100" noProof="0" dirty="0"/>
          </a:p>
        </p:txBody>
      </p:sp>
      <p:sp>
        <p:nvSpPr>
          <p:cNvPr id="22" name="Text 1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build-with-claude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prompt-engineering</a:t>
            </a:r>
            <a:endParaRPr lang="es-ES_tradnl" sz="9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8190" y="482346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r>
              <a:rPr lang="es-ES_tradnl" sz="3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36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s-ES_tradnl" sz="36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097280"/>
            <a:ext cx="3840480" cy="146304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</a:t>
            </a:r>
            <a:r>
              <a:rPr lang="es-ES_tradnl" sz="16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</a:t>
            </a:r>
            <a:endParaRPr lang="es-ES_tradnl" sz="1600" noProof="0" dirty="0"/>
          </a:p>
        </p:txBody>
      </p:sp>
      <p:sp>
        <p:nvSpPr>
          <p:cNvPr id="9" name="Text 5"/>
          <p:cNvSpPr/>
          <p:nvPr/>
        </p:nvSpPr>
        <p:spPr>
          <a:xfrm>
            <a:off x="731520" y="1600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"piensa" internamente antes de responder. Mejora matemáticas (96.2% MATH 500), física y problemas complejos.</a:t>
            </a:r>
            <a:endParaRPr lang="es-ES_tradnl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4754880" y="1097280"/>
            <a:ext cx="3840480" cy="146304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035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Outputs</a:t>
            </a:r>
            <a:endParaRPr lang="es-ES_tradnl" sz="1600" noProof="0" dirty="0"/>
          </a:p>
        </p:txBody>
      </p:sp>
      <p:sp>
        <p:nvSpPr>
          <p:cNvPr id="13" name="Text 8"/>
          <p:cNvSpPr/>
          <p:nvPr/>
        </p:nvSpPr>
        <p:spPr>
          <a:xfrm>
            <a:off x="4937760" y="1600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XML tags o JSON para organizar </a:t>
            </a:r>
            <a:r>
              <a:rPr lang="es-ES_tradnl" sz="12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outputs. Clave para integraciones y datos confiables.</a:t>
            </a:r>
            <a:endParaRPr lang="es-ES_tradnl" sz="1200" noProof="0" dirty="0"/>
          </a:p>
        </p:txBody>
      </p:sp>
      <p:sp>
        <p:nvSpPr>
          <p:cNvPr id="14" name="Shape 9"/>
          <p:cNvSpPr/>
          <p:nvPr/>
        </p:nvSpPr>
        <p:spPr>
          <a:xfrm>
            <a:off x="548640" y="2834640"/>
            <a:ext cx="3840480" cy="146304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718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</a:t>
            </a:r>
            <a:r>
              <a:rPr lang="es-ES_tradnl" sz="16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</a:t>
            </a:r>
            <a:endParaRPr lang="es-ES_tradnl" sz="1600" noProof="0" dirty="0"/>
          </a:p>
        </p:txBody>
      </p:sp>
      <p:sp>
        <p:nvSpPr>
          <p:cNvPr id="17" name="Text 11"/>
          <p:cNvSpPr/>
          <p:nvPr/>
        </p:nvSpPr>
        <p:spPr>
          <a:xfrm>
            <a:off x="731520" y="3337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rol: "Eres un data </a:t>
            </a:r>
            <a:r>
              <a:rPr lang="es-ES_tradnl" sz="12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senior." Guía estilo, tono y enfoque de la respuesta.</a:t>
            </a:r>
            <a:endParaRPr lang="es-ES_tradnl" sz="1200" noProof="0" dirty="0"/>
          </a:p>
        </p:txBody>
      </p:sp>
      <p:sp>
        <p:nvSpPr>
          <p:cNvPr id="18" name="Shape 12"/>
          <p:cNvSpPr/>
          <p:nvPr/>
        </p:nvSpPr>
        <p:spPr>
          <a:xfrm>
            <a:off x="4754880" y="2834640"/>
            <a:ext cx="3840480" cy="146304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7180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dirty="0">
                <a:solidFill>
                  <a:srgbClr val="00D4FF"/>
                </a:solidFill>
                <a:latin typeface="Trebuchet MS" pitchFamily="34" charset="0"/>
              </a:rPr>
              <a:t>Aleatoriedad</a:t>
            </a:r>
            <a:endParaRPr lang="es-ES_tradnl" sz="1600" noProof="0" dirty="0"/>
          </a:p>
        </p:txBody>
      </p:sp>
      <p:sp>
        <p:nvSpPr>
          <p:cNvPr id="21" name="Text 14"/>
          <p:cNvSpPr/>
          <p:nvPr/>
        </p:nvSpPr>
        <p:spPr>
          <a:xfrm>
            <a:off x="4937760" y="3337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3-5 pestañas y enviar el mismo </a:t>
            </a:r>
            <a:r>
              <a:rPr lang="es-ES_tradnl" sz="12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Web vs IDE con Agentes</a:t>
            </a:r>
            <a:endParaRPr lang="es-ES_tradnl" sz="36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14352"/>
              </p:ext>
            </p:extLst>
          </p:nvPr>
        </p:nvGraphicFramePr>
        <p:xfrm>
          <a:off x="548640" y="1097280"/>
          <a:ext cx="8046720" cy="2331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100" b="1" noProof="0" dirty="0" err="1">
                          <a:solidFill>
                            <a:srgbClr val="FFFFFF"/>
                          </a:solidFill>
                        </a:rPr>
                        <a:t>ChatGPT</a:t>
                      </a: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 / Gemini (Web)</a:t>
                      </a: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IDE con Agentes (Cursor, Claude </a:t>
                      </a:r>
                      <a:r>
                        <a:rPr lang="es-ES_tradnl" sz="1100" b="1" noProof="0" dirty="0" err="1">
                          <a:solidFill>
                            <a:srgbClr val="FFFFFF"/>
                          </a:solidFill>
                        </a:rPr>
                        <a:t>Code</a:t>
                      </a: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>
                          <a:solidFill>
                            <a:srgbClr val="F0F4F8"/>
                          </a:solidFill>
                        </a:rPr>
                        <a:t>Contexto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Solo lo que pegas manualmente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Lee tu proyecto completo automáticamente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>
                          <a:solidFill>
                            <a:srgbClr val="F0F4F8"/>
                          </a:solidFill>
                        </a:rPr>
                        <a:t>Ejecución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Solo texto — tú copias y pegas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Edita archivos, corre </a:t>
                      </a:r>
                      <a:r>
                        <a:rPr lang="es-ES_tradnl" sz="1000" noProof="0" dirty="0" err="1">
                          <a:solidFill>
                            <a:srgbClr val="F0F4F8"/>
                          </a:solidFill>
                        </a:rPr>
                        <a:t>tests</a:t>
                      </a: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, ejecuta comandos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 err="1">
                          <a:solidFill>
                            <a:srgbClr val="F0F4F8"/>
                          </a:solidFill>
                        </a:rPr>
                        <a:t>Multi-archivo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Imposible sin </a:t>
                      </a:r>
                      <a:r>
                        <a:rPr lang="es-ES_tradnl" sz="1000" noProof="0" dirty="0" err="1">
                          <a:solidFill>
                            <a:srgbClr val="F0F4F8"/>
                          </a:solidFill>
                        </a:rPr>
                        <a:t>copy</a:t>
                      </a: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-paste manual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Edita múltiples archivos coordinadamente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>
                          <a:solidFill>
                            <a:srgbClr val="F0F4F8"/>
                          </a:solidFill>
                        </a:rPr>
                        <a:t>Flujo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Cambias de pestaña → pierdes foco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Todo dentro de tu entorno de desarrollo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>
                          <a:solidFill>
                            <a:srgbClr val="F0F4F8"/>
                          </a:solidFill>
                        </a:rPr>
                        <a:t>Ideal para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Preguntas generales, aprender conceptos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Construir, refactorizar, </a:t>
                      </a:r>
                      <a:r>
                        <a:rPr lang="es-ES_tradnl" sz="1000" noProof="0" dirty="0" err="1">
                          <a:solidFill>
                            <a:srgbClr val="F0F4F8"/>
                          </a:solidFill>
                        </a:rPr>
                        <a:t>debugging</a:t>
                      </a:r>
                      <a:r>
                        <a:rPr lang="es-ES_tradnl" sz="1000" noProof="0" dirty="0">
                          <a:solidFill>
                            <a:srgbClr val="F0F4F8"/>
                          </a:solidFill>
                        </a:rPr>
                        <a:t> real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023360"/>
            <a:ext cx="8046720" cy="64008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La diferencia fundamental: el AI en un IDE puede ACTUAR sobre tu código, no solo hablar sobre él. Pasa de ser un asesor a ser un compañero de trabajo.</a:t>
            </a:r>
            <a:endParaRPr lang="es-ES_tradnl" sz="1300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Ecosistema de </a:t>
            </a:r>
            <a:r>
              <a:rPr lang="es-ES_tradnl" sz="36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IDEs</a:t>
            </a:r>
            <a:r>
              <a:rPr lang="es-ES_tradnl" sz="36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con AI</a:t>
            </a:r>
            <a:endParaRPr lang="es-ES_tradnl" sz="36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8046720" cy="777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54864" cy="777240"/>
          </a:xfrm>
          <a:prstGeom prst="lin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1124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s-ES_tradnl" sz="1500" noProof="0" dirty="0"/>
          </a:p>
        </p:txBody>
      </p:sp>
      <p:sp>
        <p:nvSpPr>
          <p:cNvPr id="9" name="Text 6"/>
          <p:cNvSpPr/>
          <p:nvPr/>
        </p:nvSpPr>
        <p:spPr>
          <a:xfrm>
            <a:off x="2286000" y="11247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VS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reconstruido con AI. Indexa todo tu proyecto. Multi-modelo (Claude, GPT, Gemini).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coordinados.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7498080" y="1124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$20/mes</a:t>
            </a:r>
            <a:endParaRPr lang="es-ES_tradnl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8046720" cy="777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2" name="Shape 9"/>
          <p:cNvSpPr/>
          <p:nvPr/>
        </p:nvSpPr>
        <p:spPr>
          <a:xfrm>
            <a:off x="548640" y="1965960"/>
            <a:ext cx="54864" cy="777240"/>
          </a:xfrm>
          <a:prstGeom prst="lin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Text 10"/>
          <p:cNvSpPr/>
          <p:nvPr/>
        </p:nvSpPr>
        <p:spPr>
          <a:xfrm>
            <a:off x="77724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</a:t>
            </a:r>
            <a:r>
              <a:rPr lang="es-ES_tradnl" sz="15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s-ES_tradnl" sz="1500" noProof="0" dirty="0"/>
          </a:p>
        </p:txBody>
      </p:sp>
      <p:sp>
        <p:nvSpPr>
          <p:cNvPr id="14" name="Text 11"/>
          <p:cNvSpPr/>
          <p:nvPr/>
        </p:nvSpPr>
        <p:spPr>
          <a:xfrm>
            <a:off x="2286000" y="20391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CLI de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Vive en tu terminal. Busca, entiende, planea, ejecuta y evalúa. Excelente para refactorizaciones complejas.</a:t>
            </a:r>
            <a:endParaRPr lang="es-ES_tradnl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7498080" y="20391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$20-200/mes</a:t>
            </a:r>
            <a:endParaRPr lang="es-ES_tradnl" sz="1100" noProof="0" dirty="0"/>
          </a:p>
        </p:txBody>
      </p:sp>
      <p:sp>
        <p:nvSpPr>
          <p:cNvPr id="16" name="Shape 13"/>
          <p:cNvSpPr/>
          <p:nvPr/>
        </p:nvSpPr>
        <p:spPr>
          <a:xfrm>
            <a:off x="548640" y="2880360"/>
            <a:ext cx="8046720" cy="777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Shape 14"/>
          <p:cNvSpPr/>
          <p:nvPr/>
        </p:nvSpPr>
        <p:spPr>
          <a:xfrm>
            <a:off x="548640" y="2880360"/>
            <a:ext cx="54864" cy="77724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8" name="Text 15"/>
          <p:cNvSpPr/>
          <p:nvPr/>
        </p:nvSpPr>
        <p:spPr>
          <a:xfrm>
            <a:off x="777240" y="2953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</a:t>
            </a:r>
            <a:endParaRPr lang="es-ES_tradnl" sz="1500" noProof="0" dirty="0"/>
          </a:p>
        </p:txBody>
      </p:sp>
      <p:sp>
        <p:nvSpPr>
          <p:cNvPr id="19" name="Text 16"/>
          <p:cNvSpPr/>
          <p:nvPr/>
        </p:nvSpPr>
        <p:spPr>
          <a:xfrm>
            <a:off x="2286000" y="29535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_tradnl" sz="1100" noProof="0" dirty="0"/>
          </a:p>
        </p:txBody>
      </p:sp>
      <p:sp>
        <p:nvSpPr>
          <p:cNvPr id="20" name="Text 17"/>
          <p:cNvSpPr/>
          <p:nvPr/>
        </p:nvSpPr>
        <p:spPr>
          <a:xfrm>
            <a:off x="7498080" y="29535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$8-200/mes</a:t>
            </a:r>
            <a:endParaRPr lang="es-ES_tradnl" sz="1100" noProof="0" dirty="0"/>
          </a:p>
        </p:txBody>
      </p:sp>
      <p:sp>
        <p:nvSpPr>
          <p:cNvPr id="21" name="Shape 18"/>
          <p:cNvSpPr/>
          <p:nvPr/>
        </p:nvSpPr>
        <p:spPr>
          <a:xfrm>
            <a:off x="548640" y="3794760"/>
            <a:ext cx="8046720" cy="77724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2" name="Shape 19"/>
          <p:cNvSpPr/>
          <p:nvPr/>
        </p:nvSpPr>
        <p:spPr>
          <a:xfrm>
            <a:off x="548640" y="3794760"/>
            <a:ext cx="54864" cy="77724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3" name="Text 20"/>
          <p:cNvSpPr/>
          <p:nvPr/>
        </p:nvSpPr>
        <p:spPr>
          <a:xfrm>
            <a:off x="777240" y="3867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noProof="0" dirty="0" err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Antigravity</a:t>
            </a:r>
            <a:endParaRPr lang="es-ES_tradnl" sz="1500" noProof="0" dirty="0"/>
          </a:p>
        </p:txBody>
      </p:sp>
      <p:sp>
        <p:nvSpPr>
          <p:cNvPr id="24" name="Text 21"/>
          <p:cNvSpPr/>
          <p:nvPr/>
        </p:nvSpPr>
        <p:spPr>
          <a:xfrm>
            <a:off x="2286000" y="38679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agéntica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Google (Nov 2025).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VS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Manager View para orquestar múltiples agentes en paralelo.</a:t>
            </a:r>
            <a:endParaRPr lang="es-ES_tradnl" sz="1100" noProof="0" dirty="0"/>
          </a:p>
        </p:txBody>
      </p:sp>
      <p:sp>
        <p:nvSpPr>
          <p:cNvPr id="25" name="Text 22"/>
          <p:cNvSpPr/>
          <p:nvPr/>
        </p:nvSpPr>
        <p:spPr>
          <a:xfrm>
            <a:off x="7498080" y="3867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(</a:t>
            </a:r>
            <a:r>
              <a:rPr lang="es-ES_tradnl" sz="1100" b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r>
              <a:rPr lang="es-ES_tradnl" sz="11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</a:t>
            </a:r>
            <a:r>
              <a:rPr lang="es-ES_tradnl" sz="3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36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</a:t>
            </a:r>
            <a:endParaRPr lang="es-ES_tradnl" sz="3600" noProof="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188720" cy="50292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</a:t>
            </a:r>
            <a:endParaRPr lang="es-ES_tradnl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1645920" y="10972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_tradnl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1874520" y="1097280"/>
            <a:ext cx="1188720" cy="50292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7"/>
          <p:cNvSpPr/>
          <p:nvPr/>
        </p:nvSpPr>
        <p:spPr>
          <a:xfrm>
            <a:off x="187452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Entiende</a:t>
            </a:r>
            <a:endParaRPr lang="es-ES_tradnl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3063240" y="10972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_tradnl" sz="1600" noProof="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1188720" cy="50292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Text 10"/>
          <p:cNvSpPr/>
          <p:nvPr/>
        </p:nvSpPr>
        <p:spPr>
          <a:xfrm>
            <a:off x="329184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Planea</a:t>
            </a:r>
            <a:endParaRPr lang="es-ES_tradnl" sz="1300" noProof="0" dirty="0"/>
          </a:p>
        </p:txBody>
      </p:sp>
      <p:sp>
        <p:nvSpPr>
          <p:cNvPr id="14" name="Text 11"/>
          <p:cNvSpPr/>
          <p:nvPr/>
        </p:nvSpPr>
        <p:spPr>
          <a:xfrm>
            <a:off x="4480560" y="10972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_tradnl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1188720" cy="502920"/>
          </a:xfrm>
          <a:prstGeom prst="lin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3"/>
          <p:cNvSpPr/>
          <p:nvPr/>
        </p:nvSpPr>
        <p:spPr>
          <a:xfrm>
            <a:off x="470916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</a:t>
            </a:r>
            <a:endParaRPr lang="es-ES_tradnl" sz="1300" noProof="0" dirty="0"/>
          </a:p>
        </p:txBody>
      </p:sp>
      <p:sp>
        <p:nvSpPr>
          <p:cNvPr id="17" name="Text 14"/>
          <p:cNvSpPr/>
          <p:nvPr/>
        </p:nvSpPr>
        <p:spPr>
          <a:xfrm>
            <a:off x="5897880" y="10972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_tradnl" sz="1600" noProof="0" dirty="0"/>
          </a:p>
        </p:txBody>
      </p:sp>
      <p:sp>
        <p:nvSpPr>
          <p:cNvPr id="18" name="Shape 15"/>
          <p:cNvSpPr/>
          <p:nvPr/>
        </p:nvSpPr>
        <p:spPr>
          <a:xfrm>
            <a:off x="6126480" y="1097280"/>
            <a:ext cx="1188720" cy="50292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Text 16"/>
          <p:cNvSpPr/>
          <p:nvPr/>
        </p:nvSpPr>
        <p:spPr>
          <a:xfrm>
            <a:off x="612648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Evalúa</a:t>
            </a:r>
            <a:endParaRPr lang="es-ES_tradnl" sz="1300" noProof="0" dirty="0"/>
          </a:p>
        </p:txBody>
      </p:sp>
      <p:sp>
        <p:nvSpPr>
          <p:cNvPr id="20" name="Text 17"/>
          <p:cNvSpPr/>
          <p:nvPr/>
        </p:nvSpPr>
        <p:spPr>
          <a:xfrm>
            <a:off x="7315200" y="10972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_tradnl" sz="1600" noProof="0" dirty="0"/>
          </a:p>
        </p:txBody>
      </p:sp>
      <p:sp>
        <p:nvSpPr>
          <p:cNvPr id="21" name="Shape 18"/>
          <p:cNvSpPr/>
          <p:nvPr/>
        </p:nvSpPr>
        <p:spPr>
          <a:xfrm>
            <a:off x="7543800" y="1097280"/>
            <a:ext cx="1188720" cy="50292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2" name="Text 19"/>
          <p:cNvSpPr/>
          <p:nvPr/>
        </p:nvSpPr>
        <p:spPr>
          <a:xfrm>
            <a:off x="754380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Ajusta</a:t>
            </a:r>
            <a:endParaRPr lang="es-ES_tradnl" sz="1300" noProof="0" dirty="0"/>
          </a:p>
        </p:txBody>
      </p:sp>
      <p:sp>
        <p:nvSpPr>
          <p:cNvPr id="23" name="Shape 20"/>
          <p:cNvSpPr/>
          <p:nvPr/>
        </p:nvSpPr>
        <p:spPr>
          <a:xfrm>
            <a:off x="548640" y="2011680"/>
            <a:ext cx="3840480" cy="228600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4" name="Text 21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</a:t>
            </a:r>
            <a:endParaRPr lang="es-ES_tradnl" sz="1600" noProof="0" dirty="0"/>
          </a:p>
        </p:txBody>
      </p:sp>
      <p:sp>
        <p:nvSpPr>
          <p:cNvPr id="25" name="Text 22"/>
          <p:cNvSpPr/>
          <p:nvPr/>
        </p:nvSpPr>
        <p:spPr>
          <a:xfrm>
            <a:off x="73152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solo lectura — analiza sin modificar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código, arquitectura, dependencias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plan de implementación detallado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revisas y apruebas antes de ejecutar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usarlo?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complejas, código nuevo, </a:t>
            </a:r>
            <a:r>
              <a:rPr lang="es-ES_tradnl" sz="12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s-ES_tradnl" sz="1200" noProof="0" dirty="0"/>
          </a:p>
        </p:txBody>
      </p:sp>
      <p:sp>
        <p:nvSpPr>
          <p:cNvPr id="26" name="Shape 23"/>
          <p:cNvSpPr/>
          <p:nvPr/>
        </p:nvSpPr>
        <p:spPr>
          <a:xfrm>
            <a:off x="4754880" y="2011680"/>
            <a:ext cx="3840480" cy="228600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7" name="Text 24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MODE</a:t>
            </a:r>
            <a:endParaRPr lang="es-ES_tradnl" sz="1600" noProof="0" dirty="0"/>
          </a:p>
        </p:txBody>
      </p:sp>
      <p:sp>
        <p:nvSpPr>
          <p:cNvPr id="28" name="Text 25"/>
          <p:cNvSpPr/>
          <p:nvPr/>
        </p:nvSpPr>
        <p:spPr>
          <a:xfrm>
            <a:off x="493776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cada paso del plan aprobado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código, corre </a:t>
            </a:r>
            <a:r>
              <a:rPr lang="es-ES_tradnl" sz="12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instala </a:t>
            </a:r>
            <a:r>
              <a:rPr lang="es-ES_tradnl" sz="12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progreso en tiempo real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— sigue el plan establecido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usarlo?</a:t>
            </a:r>
            <a:endParaRPr lang="es-ES_tradnl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2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listo, tareas claras, ejecución rápida</a:t>
            </a:r>
            <a:endParaRPr lang="es-ES_tradnl" sz="1200" noProof="0" dirty="0"/>
          </a:p>
        </p:txBody>
      </p:sp>
      <p:sp>
        <p:nvSpPr>
          <p:cNvPr id="29" name="Text 26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Claude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x2 para alternar  |  Fuente: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code.claude.com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getaiperks.com</a:t>
            </a:r>
            <a:endParaRPr lang="es-ES_tradnl" sz="9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4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Manejando el Contexto de tu Proyecto</a:t>
            </a:r>
            <a:endParaRPr lang="es-ES_tradnl" sz="340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422868"/>
              </p:ext>
            </p:extLst>
          </p:nvPr>
        </p:nvGraphicFramePr>
        <p:xfrm>
          <a:off x="548640" y="1051560"/>
          <a:ext cx="8046720" cy="213969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Archivo</a:t>
                      </a: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¿Qué es?</a:t>
                      </a: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¿Para quién?</a:t>
                      </a: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</a:rPr>
                        <a:t>Carga</a:t>
                      </a:r>
                      <a:endParaRPr lang="es-ES_tradnl" sz="11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 err="1">
                          <a:solidFill>
                            <a:srgbClr val="1E293B"/>
                          </a:solidFill>
                        </a:rPr>
                        <a:t>README.md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Documentación del proyecto: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setup</a:t>
                      </a: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,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features</a:t>
                      </a: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, cómo contribuir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Humanos + AI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Manual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 err="1">
                          <a:solidFill>
                            <a:srgbClr val="1E293B"/>
                          </a:solidFill>
                        </a:rPr>
                        <a:t>CLAUDE.md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Instrucciones persistentes para Claude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Code</a:t>
                      </a: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: comandos, convenciones, arquitectura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Claude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Code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Automática cada sesión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>
                          <a:solidFill>
                            <a:srgbClr val="1E293B"/>
                          </a:solidFill>
                        </a:rPr>
                        <a:t>.</a:t>
                      </a:r>
                      <a:r>
                        <a:rPr lang="es-ES_tradnl" sz="1000" b="1" noProof="0" dirty="0" err="1">
                          <a:solidFill>
                            <a:srgbClr val="1E293B"/>
                          </a:solidFill>
                        </a:rPr>
                        <a:t>cursorrules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Reglas de comportamiento para Cursor IDE: estilo, patrones, convenciones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Cursor IDE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Automática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b="1" noProof="0" dirty="0" err="1">
                          <a:solidFill>
                            <a:srgbClr val="1E293B"/>
                          </a:solidFill>
                        </a:rPr>
                        <a:t>AGENTS.md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Estándar universal para cualquier AI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tool</a:t>
                      </a: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 —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baseline</a:t>
                      </a: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 multi-herramienta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Todos los AI </a:t>
                      </a:r>
                      <a:r>
                        <a:rPr lang="es-ES_tradnl" sz="1000" noProof="0" dirty="0" err="1">
                          <a:solidFill>
                            <a:srgbClr val="1E293B"/>
                          </a:solidFill>
                        </a:rPr>
                        <a:t>agents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000" noProof="0" dirty="0">
                          <a:solidFill>
                            <a:srgbClr val="1E293B"/>
                          </a:solidFill>
                        </a:rPr>
                        <a:t>Automática</a:t>
                      </a:r>
                      <a:endParaRPr lang="es-ES_tradnl" sz="1000" noProof="0" dirty="0"/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200400"/>
            <a:ext cx="8046720" cy="1188720"/>
          </a:xfrm>
          <a:prstGeom prst="line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Shape 4"/>
          <p:cNvSpPr/>
          <p:nvPr/>
        </p:nvSpPr>
        <p:spPr>
          <a:xfrm>
            <a:off x="548640" y="3200400"/>
            <a:ext cx="54864" cy="118872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Text 5"/>
          <p:cNvSpPr/>
          <p:nvPr/>
        </p:nvSpPr>
        <p:spPr>
          <a:xfrm>
            <a:off x="777240" y="3291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noProof="0" dirty="0" err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r>
              <a:rPr lang="es-ES_tradnl" sz="1400" b="1" noProof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1400" b="1" noProof="0" dirty="0" err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r>
              <a:rPr lang="es-ES_tradnl" sz="1400" b="1" noProof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Contexto óptimo</a:t>
            </a:r>
            <a:endParaRPr lang="es-ES_tradnl" sz="1400" noProof="0" dirty="0"/>
          </a:p>
        </p:txBody>
      </p:sp>
      <p:sp>
        <p:nvSpPr>
          <p:cNvPr id="10" name="Text 6"/>
          <p:cNvSpPr/>
          <p:nvPr/>
        </p:nvSpPr>
        <p:spPr>
          <a:xfrm>
            <a:off x="777240" y="36576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500 palabras (idealmente ~150 tokens). Cada token ahí es un token que no puedes usar en la conversación.</a:t>
            </a:r>
            <a:endParaRPr lang="es-ES_tradnl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/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generar un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inicial basado en tu proyecto actual.</a:t>
            </a:r>
            <a:endParaRPr lang="es-ES_tradnl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Documenta: comandos de </a:t>
            </a:r>
            <a:r>
              <a:rPr lang="es-ES_tradnl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r>
              <a:rPr lang="es-ES_tradnl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/test, convenciones de código, arquitectura, y errores comunes a evitar.</a:t>
            </a:r>
            <a:endParaRPr lang="es-ES_tradnl" sz="1100" noProof="0" dirty="0"/>
          </a:p>
        </p:txBody>
      </p:sp>
      <p:sp>
        <p:nvSpPr>
          <p:cNvPr id="6" name="Text 7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claude.com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/blog/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-files,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docs.cursor.com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/rules-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s-ES_tradnl" sz="9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r>
              <a:rPr lang="es-ES_tradnl" sz="3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Tools y MCP</a:t>
            </a:r>
            <a:endParaRPr lang="es-ES_tradnl" sz="36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3840480" cy="228600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(</a:t>
            </a:r>
            <a:r>
              <a:rPr lang="es-ES_tradnl" sz="1600" b="1" noProof="0" dirty="0" err="1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</a:t>
            </a:r>
            <a:r>
              <a:rPr lang="es-ES_tradnl" sz="1600" b="1" noProof="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s-ES_tradnl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731520" y="15087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s-ES_tradnl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r>
              <a:rPr lang="es-ES_tradnl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reutilizables empaquetados</a:t>
            </a: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</a:t>
            </a:r>
            <a:r>
              <a:rPr lang="es-ES_tradnl" sz="11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instrucciones paso a paso que Claude sigue para tareas específicas.</a:t>
            </a: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invocan con /comando o automáticamente.</a:t>
            </a: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consumen contexto hasta que se activan (</a:t>
            </a:r>
            <a:r>
              <a:rPr lang="es-ES_tradnl" sz="11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1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_tradnl" sz="1100" noProof="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840480" cy="2286000"/>
          </a:xfrm>
          <a:prstGeom prst="line">
            <a:avLst/>
          </a:prstGeom>
          <a:solidFill>
            <a:srgbClr val="0A12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7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(</a:t>
            </a:r>
            <a:r>
              <a:rPr lang="es-ES_tradnl" sz="16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16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ES_tradnl" sz="1600" b="1" noProof="0" dirty="0" err="1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r>
              <a:rPr lang="es-ES_tradnl" sz="1600" b="1" noProof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s-ES_tradnl" sz="1600" noProof="0" dirty="0"/>
          </a:p>
        </p:txBody>
      </p:sp>
      <p:sp>
        <p:nvSpPr>
          <p:cNvPr id="11" name="Text 8"/>
          <p:cNvSpPr/>
          <p:nvPr/>
        </p:nvSpPr>
        <p:spPr>
          <a:xfrm>
            <a:off x="4937760" y="15087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s-ES_tradnl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abierto para conectar AI con herramientas externas</a:t>
            </a: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"USB-C" para aplicaciones AI: un protocolo universal.</a:t>
            </a: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a: GitHub, </a:t>
            </a:r>
            <a:r>
              <a:rPr lang="es-ES_tradnl" sz="11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bases de datos, </a:t>
            </a:r>
            <a:r>
              <a:rPr lang="es-ES_tradnl" sz="11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archivos locales.</a:t>
            </a: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endParaRPr lang="es-ES_tradnl" sz="11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Adoptado por </a:t>
            </a:r>
            <a:r>
              <a:rPr lang="es-ES_tradnl" sz="11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es-ES_tradnl" sz="11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Google, Microsoft, AWS.</a:t>
            </a:r>
            <a:endParaRPr lang="es-ES_tradnl" sz="1100" noProof="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8046720" cy="731520"/>
          </a:xfrm>
          <a:prstGeom prst="line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Text 10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clave: </a:t>
            </a:r>
            <a:r>
              <a:rPr lang="es-ES_tradnl" sz="13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r>
              <a:rPr lang="es-ES_tradnl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instrucciones internas que Claude sigue (cómo hacer algo). MCP = conexiones externas que Claude usa (con qué herramientas).</a:t>
            </a:r>
            <a:endParaRPr lang="es-ES_tradnl" sz="1300" noProof="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97M+ descargas SDK/mes  |  5,800+ servidores MCP  |  Fuente: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code.claude.com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ES_tradnl" sz="9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/en/</a:t>
            </a:r>
            <a:r>
              <a:rPr lang="es-ES_tradnl" sz="9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s-ES_tradnl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2654</Words>
  <Application>Microsoft Macintosh PowerPoint</Application>
  <PresentationFormat>On-screen Show (16:9)</PresentationFormat>
  <Paragraphs>336</Paragraphs>
  <Slides>47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 GenAI - Taller de Python Clase 8</dc:title>
  <dc:subject>PptxGenJS Presentation</dc:subject>
  <dc:creator>Lucas Gomez Tobon</dc:creator>
  <cp:lastModifiedBy>Lucas Gomez Tobon</cp:lastModifiedBy>
  <cp:revision>2</cp:revision>
  <dcterms:created xsi:type="dcterms:W3CDTF">2026-04-06T19:34:29Z</dcterms:created>
  <dcterms:modified xsi:type="dcterms:W3CDTF">2026-04-07T00:02:24Z</dcterms:modified>
</cp:coreProperties>
</file>